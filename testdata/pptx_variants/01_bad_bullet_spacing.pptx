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4fb7ec7f644629" /><Relationship Type="http://schemas.openxmlformats.org/officeDocument/2006/relationships/extended-properties" Target="/docProps/app.xml" Id="R0676650fd8e145e9" /><Relationship Type="http://schemas.openxmlformats.org/officeDocument/2006/relationships/officeDocument" Target="/ppt/presentation.xml" Id="R3fce7a07f3a04f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bf5731d50f4c51"/>
  </p:sldMasterIdLst>
  <p:notesMasterIdLst>
    <p:notesMasterId xmlns:r="http://schemas.openxmlformats.org/officeDocument/2006/relationships" r:id="Rb763134460cb494b"/>
  </p:notesMasterIdLst>
  <p:sldIdLst>
    <p:sldId xmlns:r="http://schemas.openxmlformats.org/officeDocument/2006/relationships" id="256" r:id="R711c9f7b67f44e7a"/>
    <p:sldId xmlns:r="http://schemas.openxmlformats.org/officeDocument/2006/relationships" id="257" r:id="Re111652ed9c64045"/>
    <p:sldId xmlns:r="http://schemas.openxmlformats.org/officeDocument/2006/relationships" id="258" r:id="R79f01a265bc04e0a"/>
  </p:sldIdLst>
  <p:sldSz cx="9906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25348efd884bff" /><Relationship Type="http://schemas.openxmlformats.org/officeDocument/2006/relationships/slideMaster" Target="/ppt/slideMasters/slideMaster1.xml" Id="R14bf5731d50f4c51" /><Relationship Type="http://schemas.openxmlformats.org/officeDocument/2006/relationships/notesMaster" Target="/ppt/notesMasters/notesMaster1.xml" Id="Rb763134460cb494b" /><Relationship Type="http://schemas.openxmlformats.org/officeDocument/2006/relationships/presProps" Target="/ppt/presProps.xml" Id="R660a963a32c74f28" /><Relationship Type="http://schemas.openxmlformats.org/officeDocument/2006/relationships/viewProps" Target="/ppt/viewProps.xml" Id="R53d7cac6e8de4c98" /><Relationship Type="http://schemas.openxmlformats.org/officeDocument/2006/relationships/tableStyles" Target="/ppt/tableStyles.xml" Id="R007b00a8c61d4ff8" /><Relationship Type="http://schemas.openxmlformats.org/officeDocument/2006/relationships/slide" Target="/ppt/slides/slide1.xml" Id="R711c9f7b67f44e7a" /><Relationship Type="http://schemas.openxmlformats.org/officeDocument/2006/relationships/slide" Target="/ppt/slides/slide2.xml" Id="Re111652ed9c64045" /><Relationship Type="http://schemas.openxmlformats.org/officeDocument/2006/relationships/slide" Target="/ppt/slides/slide3.xml" Id="R79f01a265bc04e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1e6fbb176448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8fb53903f04f68" /><Relationship Type="http://schemas.openxmlformats.org/officeDocument/2006/relationships/notesMaster" Target="/ppt/notesMasters/notesMaster1.xml" Id="Rd43d01aaae4b43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b60e4778b94c9b" /><Relationship Type="http://schemas.openxmlformats.org/officeDocument/2006/relationships/notesMaster" Target="/ppt/notesMasters/notesMaster1.xml" Id="R59e3cb6a97f343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8ca18fc0784955" /><Relationship Type="http://schemas.openxmlformats.org/officeDocument/2006/relationships/notesMaster" Target="/ppt/notesMasters/notesMaster1.xml" Id="R813dc6c7e75e40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Tx/>
              <a:buNone/>
            </a:pPr>
            <a:r>
              <a:t>- 기준 양식: app/assets/보고양식_Sample_4팀.pptx</a:t>
            </a:r>
            <a:endParaRPr/>
          </a:p>
          <a:p xmlns:a="http://schemas.openxmlformats.org/drawingml/2006/main">
            <a:pPr marL="0" indent="0">
              <a:buFontTx/>
              <a:buNone/>
            </a:pPr>
            <a:r>
              <a:t>- 테스트 목적: 불릿·공백 오류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359de78894e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aa684c8a94c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30f31c3474b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85ad75fa14e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4ac77ce2e24d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85b74c46247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8e63ad4324b1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3d94359e54c2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119df76044fc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bf4fb0ca7424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dc25dbb38418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5960981cd4162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695979-56B8-43C4-BF0E-4799AF3A718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42950" y="1122363"/>
            <a:ext cx="84201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C523D2F-FF6E-4223-AC09-CFAB3B4DAD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38250" y="3602038"/>
            <a:ext cx="74295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36F092-03FA-4164-84A1-71BDF6B828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36193F-73EA-43E3-8070-6E6AF3AAA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9ABB12-3683-4CAD-BD47-F303C6B665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499C5-935B-4431-A2A3-C01348602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4DE796-71F3-46E8-8EF3-A2FB6C1A7F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F75EA6-1A52-45CD-B973-D09847D881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7EE3F8-87EC-42D2-84DE-5CFC73995C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D85CC7-089C-4D1A-98AC-A676239F03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0171DE-3FD3-43AA-A2F4-097C0DEC8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5879" y="1709740"/>
            <a:ext cx="854392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8EBB7A-FB55-4157-84BA-B10C2B676F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879" y="4589465"/>
            <a:ext cx="854392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A781EE-F3B6-407F-A6A5-C0506D304B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EFBFE-A009-48E8-A1E5-F50BFFA2F7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F89B8B-895C-4A8B-BF99-7094E438D8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11349C-5310-44E2-BDA1-2D112FDD2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8D3565-15EB-423A-A901-BFC66D4315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1038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DDA2F78-389B-476B-8CA4-ED8186AFF8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14913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6C719EA-9F9F-4310-BC5C-D2B7CE5093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719031-F8CB-455B-AFE6-EE670A973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29127D-2D2E-4857-8914-AEA094CD0F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ECC6F-42F6-4791-8E8E-D69B79939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365127"/>
            <a:ext cx="854392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AD178C-8C13-4D35-A8F6-2591ECB3FF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2329" y="1681163"/>
            <a:ext cx="4190702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C012686-3A19-4272-8E29-E8F8D249FE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82329" y="2505075"/>
            <a:ext cx="4190702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F27F9E1-4B2C-460B-AADE-0B9F6C09245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14913" y="1681163"/>
            <a:ext cx="4211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5B36503-6E01-4709-BF1D-363E735E1B1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14913" y="2505075"/>
            <a:ext cx="4211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20AA95E-C551-4CD9-813E-05E42324B4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4FFEEA-1086-4490-8162-03201E19F4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F8F54F3-F288-483A-83E8-4639D65BA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775F9A-0F6A-4672-95D8-5C0314DB4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258767C-5CDB-46C6-9AB9-1CC284FE8E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3179522-9169-47E4-9499-AB91B603AE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2D32761-7714-4318-960D-6DCE654298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C16EF3D-53C6-4984-9915-D2680E093B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C26DFB8-843A-4088-949B-729B479450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964225-47C8-4622-AED7-1048954D7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9C0D42-6D3E-4F0A-8C61-82DCBDC8C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54A0A6-3F4E-416C-B940-382A81BA91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7969145-8E99-488A-A637-C5457AC934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DFC02-18BC-4EC1-870C-B15CEF9CA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9DDE1C-1BDC-426C-A1B5-69670A39D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4FFD6BB-E538-4D1C-8D7B-A7098A580D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66FD84-3BB2-4E8C-B189-A6420EA20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3D721D4-D6BE-43CC-87CD-86F760D67F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F34943-A019-42D6-8508-9BB73B4249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5871F94-DE49-432D-886F-0BA546181F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C212D52-0702-40E2-8EB1-391EC85B8C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96A646E-92D7-430F-A8F5-BD4C5A7603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12C83B-208D-44BE-9CC1-7A96A99A80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94B72B-B1A0-4B7C-9146-4B383A7D3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8360E5-C5FF-4A74-9B8D-1CBAA79189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9037E-0C81-4002-8382-F01F9CFBC4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1402E4-A84B-49C7-BDED-D1F20CA102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E258ADA-DC40-423F-B93A-6F9C2376C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982" y="365125"/>
            <a:ext cx="2135981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2B04FB-4C42-4207-9A24-74B74ECD7F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365125"/>
            <a:ext cx="628411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E0EDF6-F549-4313-912A-9432C1F777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751D13-C457-4762-8F5D-AFD6B75375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75D3AC-6E98-4C35-BDE8-238F74520E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슬라이드 번호 개체 틀 16">
            <a:extLst xmlns:a="http://schemas.openxmlformats.org/drawingml/2006/main">
              <a:ext uri="{FF2B5EF4-FFF2-40B4-BE49-F238E27FC236}">
                <a16:creationId xmlns:a16="http://schemas.microsoft.com/office/drawing/2014/main" id="{17C0CEF6-4C72-4D30-9705-CFD99F6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290" y="6623050"/>
            <a:ext cx="231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rIns="36000"/>
          <a:lstStyle xmlns:a="http://schemas.openxmlformats.org/drawingml/2006/main">
            <a:lvl1pPr>
              <a:buNone/>
              <a:defRPr sz="1100" b="1">
                <a:solidFill>
                  <a:schemeClr val="tx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fld id="{7C14344A-CACA-478F-85C5-D0BB66BC0415}" type="slidenum">
              <a:rPr sz="10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‹#›</a:t>
            </a:fld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15" name="표 7"/>
          <p:cNvGraphicFramePr/>
          <p:nvPr/>
        </p:nvGraphicFramePr>
        <p:xfrm>
          <a:off xmlns:a="http://schemas.openxmlformats.org/drawingml/2006/main" x="273051" y="631784"/>
          <a:ext xmlns:a="http://schemas.openxmlformats.org/drawingml/2006/main" cx="9372502" cy="596586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379"/>
                <a:gridCol w="7991123"/>
              </a:tblGrid>
              <a:tr h="327209"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u="none">
                          <a:solidFill>
                            <a:schemeClr val="tx1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구 분</a:t>
                      </a: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u="none">
                          <a:solidFill>
                            <a:schemeClr val="tx1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주요 내용</a:t>
                      </a:r>
                      <a:endParaRPr sz="1400" b="1" u="none" kern="1200" baseline="0">
                        <a:solidFill>
                          <a:schemeClr val="tx1"/>
                        </a:solidFill>
                        <a:latin typeface="나눔스퀘어 ExtraBold"/>
                        <a:ea typeface="나눔스퀘어 ExtraBold"/>
                        <a:cs typeface="나눔스퀘어 ExtraBold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638656">
                <a:tc>
                  <a:txBody>
                    <a:bodyPr/>
                    <a:lstStyle/>
                    <a:p>
                      <a:pPr algn="ctr" defTabSz="895350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SzPct val="120000"/>
                        <a:buNone/>
                      </a:pPr>
                      <a:endParaRPr sz="1400" b="1" u="none" baseline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R="0" marT="252000" marB="46800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텍스트 개체 틀 11">
            <a:extLst xmlns:a="http://schemas.openxmlformats.org/drawingml/2006/main">
              <a:ext uri="{FF2B5EF4-FFF2-40B4-BE49-F238E27FC236}">
                <a16:creationId xmlns:a16="http://schemas.microsoft.com/office/drawing/2014/main" id="{D7100E2C-1F59-48AA-BF2B-F46311160B6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58938" y="1196975"/>
            <a:ext cx="7986615" cy="51847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65113" indent="-265113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  <a:defRPr sz="1400" b="1" kern="1200" baseline="0">
                <a:solidFill>
                  <a:prstClr val="black"/>
                </a:solidFill>
                <a:latin typeface="Corbel"/>
                <a:ea typeface="Corbel"/>
                <a:cs typeface="Corbel"/>
              </a:defRPr>
            </a:lvl1pPr>
            <a:lvl2pPr marL="538163" indent="-266700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  <a:defRPr sz="1300" b="1" baseline="0">
                <a:latin typeface="Corbel"/>
                <a:ea typeface="Corbel"/>
                <a:cs typeface="Corbel"/>
              </a:defRPr>
            </a:lvl2pPr>
            <a:lvl3pPr marL="714375" indent="-179388">
              <a:spcBef>
                <a:spcPts val="500"/>
              </a:spcBef>
              <a:spcAft>
                <a:spcPts val="0"/>
              </a:spcAft>
              <a:buFont typeface="Wingdings"/>
              <a:buChar char=""/>
              <a:defRPr sz="1200" b="0" kern="1200" baseline="0">
                <a:solidFill>
                  <a:schemeClr val="tx1"/>
                </a:solidFill>
                <a:latin typeface="나눔스퀘어"/>
                <a:ea typeface="나눔스퀘어"/>
                <a:cs typeface="나눔스퀘어"/>
              </a:defRPr>
            </a:lvl3pPr>
            <a:lvl4pPr marL="892175" indent="-177800">
              <a:spcBef>
                <a:spcPts val="500"/>
              </a:spcBef>
              <a:spcAft>
                <a:spcPts val="0"/>
              </a:spcAft>
              <a:buFont typeface="Arial"/>
              <a:buChar char="–"/>
              <a:defRPr sz="1100" b="0" baseline="0">
                <a:latin typeface="Corbel"/>
                <a:ea typeface="Corbel"/>
                <a:cs typeface="Corbel"/>
              </a:defRPr>
            </a:lvl4pPr>
            <a:lvl5pPr marL="1081088" indent="-188913"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1000" b="0" baseline="0">
                <a:latin typeface="Corbel"/>
                <a:ea typeface="Corbel"/>
                <a:cs typeface="Corbel"/>
              </a:defRPr>
            </a:lvl5pPr>
          </a:lstStyle>
          <a:p xmlns:a="http://schemas.openxmlformats.org/drawingml/2006/main">
            <a:pPr lvl="0">
              <a:buNone/>
            </a:pPr>
            <a:r>
              <a:t>대 제목</a:t>
            </a:r>
            <a:endParaRPr/>
          </a:p>
          <a:p xmlns:a="http://schemas.openxmlformats.org/drawingml/2006/main">
            <a:pPr lvl="1">
              <a:buNone/>
            </a:pPr>
            <a:r>
              <a:t>두번째</a:t>
            </a:r>
            <a:endParaRPr/>
          </a:p>
          <a:p xmlns:a="http://schemas.openxmlformats.org/drawingml/2006/main">
            <a:pPr lvl="2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Level 1 </a:t>
            </a:r>
            <a:br/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* Level 1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참고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시</a:t>
            </a:r>
            <a:br/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 Level 2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소결시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 </a:t>
            </a:r>
            <a:endParaRPr sz="1200" b="1">
              <a:latin typeface="Tahoma"/>
              <a:ea typeface="Tahoma"/>
              <a:cs typeface="Tahoma"/>
            </a:endParaRPr>
          </a:p>
          <a:p xmlns:a="http://schemas.openxmlformats.org/drawingml/2006/main">
            <a:pPr lvl="3">
              <a:buNone/>
            </a:pPr>
            <a:r>
              <a:t>Level 2</a:t>
            </a:r>
            <a:br/>
            <a:r>
              <a:t>* Level 2 </a:t>
            </a:r>
            <a:r>
              <a:t>참고시</a:t>
            </a:r>
            <a:r>
              <a:t> </a:t>
            </a:r>
            <a:br/>
            <a:r>
              <a:t> Level 2 </a:t>
            </a:r>
            <a:r>
              <a:t>소결시</a:t>
            </a:r>
            <a:r>
              <a:t> </a:t>
            </a:r>
          </a:p>
          <a:p xmlns:a="http://schemas.openxmlformats.org/drawingml/2006/main">
            <a:pPr lvl="4">
              <a:buNone/>
            </a:pPr>
            <a:r>
              <a:t>Level 3</a:t>
            </a:r>
            <a:br/>
            <a:r>
              <a:t>* Level 3 </a:t>
            </a:r>
            <a:r>
              <a:t>의</a:t>
            </a:r>
            <a:r>
              <a:t> </a:t>
            </a:r>
            <a:r>
              <a:t>참고 </a:t>
            </a:r>
            <a:br/>
            <a:r>
              <a:t> level 3 </a:t>
            </a:r>
            <a:r>
              <a:t>의</a:t>
            </a:r>
            <a:r>
              <a:t> </a:t>
            </a:r>
            <a:r>
              <a:t>소결</a:t>
            </a:r>
            <a:endParaRPr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1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190a0378ec4745" /><Relationship Type="http://schemas.openxmlformats.org/officeDocument/2006/relationships/slideLayout" Target="/ppt/slideLayouts/slideLayout1.xml" Id="Rbd2684ec8c994278" /><Relationship Type="http://schemas.openxmlformats.org/officeDocument/2006/relationships/slideLayout" Target="/ppt/slideLayouts/slideLayout2.xml" Id="Rf14744589ba740b2" /><Relationship Type="http://schemas.openxmlformats.org/officeDocument/2006/relationships/slideLayout" Target="/ppt/slideLayouts/slideLayout3.xml" Id="R48903ab4072048c8" /><Relationship Type="http://schemas.openxmlformats.org/officeDocument/2006/relationships/slideLayout" Target="/ppt/slideLayouts/slideLayout4.xml" Id="R136c2eff8a2c45d1" /><Relationship Type="http://schemas.openxmlformats.org/officeDocument/2006/relationships/slideLayout" Target="/ppt/slideLayouts/slideLayout5.xml" Id="R8f66fbdc1bcc4b11" /><Relationship Type="http://schemas.openxmlformats.org/officeDocument/2006/relationships/slideLayout" Target="/ppt/slideLayouts/slideLayout6.xml" Id="Rc4f0b727dd414ee3" /><Relationship Type="http://schemas.openxmlformats.org/officeDocument/2006/relationships/slideLayout" Target="/ppt/slideLayouts/slideLayout7.xml" Id="Ra20d8246450d4ffe" /><Relationship Type="http://schemas.openxmlformats.org/officeDocument/2006/relationships/slideLayout" Target="/ppt/slideLayouts/slideLayout8.xml" Id="R573a5b4ecb6f4dca" /><Relationship Type="http://schemas.openxmlformats.org/officeDocument/2006/relationships/slideLayout" Target="/ppt/slideLayouts/slideLayout9.xml" Id="Ra03e5bbe37fb4b89" /><Relationship Type="http://schemas.openxmlformats.org/officeDocument/2006/relationships/slideLayout" Target="/ppt/slideLayouts/slideLayout10.xml" Id="R61897539d2144682" /><Relationship Type="http://schemas.openxmlformats.org/officeDocument/2006/relationships/slideLayout" Target="/ppt/slideLayouts/slideLayout11.xml" Id="R77782f6e88804998" /><Relationship Type="http://schemas.openxmlformats.org/officeDocument/2006/relationships/slideLayout" Target="/ppt/slideLayouts/slideLayout12.xml" Id="R43ef928c6b494b7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423D76C-AB68-45A8-B8DD-1B861FEF6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038" y="365127"/>
            <a:ext cx="854392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32080C-54A7-46D7-B194-6F90F264E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1825625"/>
            <a:ext cx="854392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9E5D8A-FFFE-47FC-9902-7ACB3B164F4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1038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517812-61B3-461A-86EE-410066225AB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281363" y="6356352"/>
            <a:ext cx="334327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D8E694-FCEC-468D-BBC6-DDAC9220EE2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96113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2684ec8c994278"/>
    <p:sldLayoutId xmlns:r="http://schemas.openxmlformats.org/officeDocument/2006/relationships" id="2147483650" r:id="Rf14744589ba740b2"/>
    <p:sldLayoutId xmlns:r="http://schemas.openxmlformats.org/officeDocument/2006/relationships" id="2147483651" r:id="R48903ab4072048c8"/>
    <p:sldLayoutId xmlns:r="http://schemas.openxmlformats.org/officeDocument/2006/relationships" id="2147483652" r:id="R136c2eff8a2c45d1"/>
    <p:sldLayoutId xmlns:r="http://schemas.openxmlformats.org/officeDocument/2006/relationships" id="2147483653" r:id="R8f66fbdc1bcc4b11"/>
    <p:sldLayoutId xmlns:r="http://schemas.openxmlformats.org/officeDocument/2006/relationships" id="2147483654" r:id="Rc4f0b727dd414ee3"/>
    <p:sldLayoutId xmlns:r="http://schemas.openxmlformats.org/officeDocument/2006/relationships" id="2147483655" r:id="Ra20d8246450d4ffe"/>
    <p:sldLayoutId xmlns:r="http://schemas.openxmlformats.org/officeDocument/2006/relationships" id="2147483656" r:id="R573a5b4ecb6f4dca"/>
    <p:sldLayoutId xmlns:r="http://schemas.openxmlformats.org/officeDocument/2006/relationships" id="2147483657" r:id="Ra03e5bbe37fb4b89"/>
    <p:sldLayoutId xmlns:r="http://schemas.openxmlformats.org/officeDocument/2006/relationships" id="2147483658" r:id="R61897539d2144682"/>
    <p:sldLayoutId xmlns:r="http://schemas.openxmlformats.org/officeDocument/2006/relationships" id="2147483659" r:id="R77782f6e88804998"/>
    <p:sldLayoutId xmlns:r="http://schemas.openxmlformats.org/officeDocument/2006/relationships" id="2147483660" r:id="R43ef928c6b494b7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7893ed968b642a3" /><Relationship Type="http://schemas.openxmlformats.org/officeDocument/2006/relationships/notesSlide" Target="/ppt/notesSlides/notesSlide1.xml" Id="R750269173d4b41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6da2bb1577417a" /><Relationship Type="http://schemas.openxmlformats.org/officeDocument/2006/relationships/notesSlide" Target="/ppt/notesSlides/notesSlide2.xml" Id="Ra8f3c0bd54fa45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5e18721c8c84eb7" /><Relationship Type="http://schemas.openxmlformats.org/officeDocument/2006/relationships/notesSlide" Target="/ppt/notesSlides/notesSlide3.xml" Id="Re663c633a3cd41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B414C624-F1F1-F45E-6306-DC6CC262BB7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AI DC Solution </a:t>
            </a:r>
            <a:r>
              <a:rPr>
                <a:solidFill>
                  <a:schemeClr val="tx1"/>
                </a:solidFill>
              </a:rPr>
              <a:t>확보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lvl="1">
              <a:buNone/>
            </a:pPr>
            <a:r>
              <a:t>SK</a:t>
            </a:r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▶  CEO 보고   </a:t>
            </a:r>
            <a:endParaRPr b="1" baseline="30000">
              <a:latin typeface="Corbel"/>
              <a:ea typeface="Corbel"/>
              <a:cs typeface="Corbel"/>
            </a:endParaRP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CEO </a:t>
            </a:r>
            <a:r>
              <a:t>向 최종 보고 完</a:t>
            </a:r>
            <a:r>
              <a:t>)</a:t>
            </a:r>
            <a:r>
              <a:t> </a:t>
            </a:r>
            <a:endParaRPr baseline="30000"/>
          </a:p>
          <a:p xmlns:a="http://schemas.openxmlformats.org/drawingml/2006/main">
            <a:pPr lvl="4">
              <a:spcBef>
                <a:spcPts val="1000"/>
              </a:spcBef>
              <a:buNone/>
            </a:pPr>
            <a:r>
              <a:t>실사 결과 보고 </a:t>
            </a:r>
            <a:endParaRPr/>
          </a:p>
          <a:p xmlns:a="http://schemas.openxmlformats.org/drawingml/2006/main">
            <a:pPr lvl="4">
              <a:spcBef>
                <a:spcPts val="1000"/>
              </a:spcBef>
              <a:buNone/>
            </a:pPr>
            <a:r>
              <a:t>멤버사</a:t>
            </a:r>
            <a:endParaRPr/>
          </a:p>
          <a:p xmlns:a="http://schemas.openxmlformats.org/drawingml/2006/main">
            <a:pPr marL="714375" lvl="3" indent="0">
              <a:spcBef>
                <a:spcPts val="800"/>
              </a:spcBef>
              <a:buNone/>
            </a:pPr>
            <a:endParaRPr baseline="30000"/>
          </a:p>
          <a:p xmlns:a="http://schemas.openxmlformats.org/drawingml/2006/main">
            <a:pPr marL="714375" lvl="3" indent="0">
              <a:spcBef>
                <a:spcPts val="800"/>
              </a:spcBef>
              <a:buNone/>
            </a:pPr>
            <a:br/>
            <a:endParaRPr baseline="30000"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Project </a:t>
            </a:r>
            <a:r>
              <a:t>진행 일정</a:t>
            </a:r>
            <a:r>
              <a:t>(</a:t>
            </a:r>
            <a:r>
              <a:t>案</a:t>
            </a:r>
            <a:r>
              <a:t>)</a:t>
            </a: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marL="714375" lvl="3" indent="0">
              <a:spcBef>
                <a:spcPts val="1000"/>
              </a:spcBef>
              <a:buNone/>
            </a:pPr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E0CA606-66CD-58FC-CA82-FDE3237D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AI DC</a:t>
            </a:r>
          </a:p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Solution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A8202E5-9A81-C175-C494-86ACBC46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336470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나눔스퀘어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ExtraBold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(24)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31" name="표 2"/>
          <p:cNvGraphicFramePr/>
          <p:nvPr/>
        </p:nvGraphicFramePr>
        <p:xfrm>
          <a:off xmlns:a="http://schemas.openxmlformats.org/drawingml/2006/main" x="2649538" y="3244741"/>
          <a:ext xmlns:a="http://schemas.openxmlformats.org/drawingml/2006/main" cx="6875462" cy="21236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9450"/>
                <a:gridCol w="5966012"/>
              </a:tblGrid>
              <a:tr h="202910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36000" marB="36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협의 경과</a:t>
                      </a:r>
                    </a:p>
                  </a:txBody>
                  <a:tcPr marL="0" marR="0" marT="36000" marB="36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362845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프로젝트</a:t>
                      </a:r>
                      <a:endParaRPr sz="1000" b="0" u="none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2845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IT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443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361950" marR="0" lvl="1" indent="-180975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/>
                        <a:buChar char="−"/>
                        <a:tabLst>
                          <a:tab pos="180975" algn="l"/>
                        </a:tabLst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Phase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①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: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361950" marR="0" lvl="1" indent="-180975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/>
                        <a:buChar char="−"/>
                        <a:tabLst>
                          <a:tab pos="180975" algn="l"/>
                        </a:tabLst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Phase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②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: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6246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910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 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9B94B0CC-2598-8646-C878-CF268875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2908803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sp>
        <p:nvSpPr>
          <p:cNvPr id="8" name="Down Arrow 4">
            <a:extLst xmlns:a="http://schemas.openxmlformats.org/drawingml/2006/main">
              <a:ext uri="{FF2B5EF4-FFF2-40B4-BE49-F238E27FC236}">
                <a16:creationId xmlns:a16="http://schemas.microsoft.com/office/drawing/2014/main" id="{11883B9A-C327-9183-04FA-F4C37AE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13903" y="2708415"/>
            <a:ext cx="147320" cy="6834200"/>
          </a:xfrm>
          <a:prstGeom xmlns:a="http://schemas.openxmlformats.org/drawingml/2006/main" prst="downArrow">
            <a:avLst>
              <a:gd name="adj1" fmla="val 42702"/>
              <a:gd name="adj2" fmla="val 50000"/>
            </a:avLst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6350">
            <a:noFill/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endParaRPr sz="1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7BB81F4-C9C3-A4FF-0891-73E3A75C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013" y="5807412"/>
            <a:ext cx="539745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’26.11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1" name="Oval 36">
            <a:extLst xmlns:a="http://schemas.openxmlformats.org/drawingml/2006/main">
              <a:ext uri="{FF2B5EF4-FFF2-40B4-BE49-F238E27FC236}">
                <a16:creationId xmlns:a16="http://schemas.microsoft.com/office/drawing/2014/main" id="{F7FC3BF8-721F-E77E-A9F7-55D9A67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483" y="6054931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4481F1A-8330-37B4-4A9F-F19A2C8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368" y="5824156"/>
            <a:ext cx="348988" cy="22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4/30</a:t>
            </a:r>
          </a:p>
        </p:txBody>
      </p:sp>
      <p:sp>
        <p:nvSpPr>
          <p:cNvPr id="14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D03E1ECE-EC3F-2D32-B550-D08CB29D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63" y="6178393"/>
            <a:ext cx="1728672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/>
              <a:buNone/>
              <a:defRPr sz="1100" b="1" kern="1200">
                <a:solidFill>
                  <a:prstClr val="black"/>
                </a:solidFill>
                <a:latin typeface="+mn-lt"/>
                <a:ea typeface="+mn-lt"/>
                <a:cs typeface="+mn-lt"/>
              </a:defRPr>
            </a:lvl1pPr>
            <a:lvl2pPr marL="360363" indent="-184150" algn="l" defTabSz="91440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 defTabSz="91440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000" b="0">
                <a:latin typeface="Corbel"/>
                <a:ea typeface="Corbel"/>
                <a:cs typeface="Corbel"/>
              </a:rPr>
              <a:t>XX</a:t>
            </a:r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5" name="Oval 36">
            <a:extLst xmlns:a="http://schemas.openxmlformats.org/drawingml/2006/main">
              <a:ext uri="{FF2B5EF4-FFF2-40B4-BE49-F238E27FC236}">
                <a16:creationId xmlns:a16="http://schemas.microsoft.com/office/drawing/2014/main" id="{AE019189-7CA5-4032-5770-58BDEC9E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63" y="6062150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6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0CB3D57-AD14-2BBC-F873-989FE811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09" y="5824156"/>
            <a:ext cx="493258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’26.5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8" name="Oval 36">
            <a:extLst xmlns:a="http://schemas.openxmlformats.org/drawingml/2006/main">
              <a:ext uri="{FF2B5EF4-FFF2-40B4-BE49-F238E27FC236}">
                <a16:creationId xmlns:a16="http://schemas.microsoft.com/office/drawing/2014/main" id="{FC94403A-C775-2988-E4B2-38EFCE54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665" y="6062150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7329CBF3-88B7-B4B5-25CE-8698BDB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405" y="5810622"/>
            <a:ext cx="547760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’26.10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1" name="Oval 36">
            <a:extLst xmlns:a="http://schemas.openxmlformats.org/drawingml/2006/main">
              <a:ext uri="{FF2B5EF4-FFF2-40B4-BE49-F238E27FC236}">
                <a16:creationId xmlns:a16="http://schemas.microsoft.com/office/drawing/2014/main" id="{0ACD262F-975B-FD67-D75D-18A8DD7B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884" y="6039706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B8C1B0CE-6FD9-B3FD-3953-C80E75DE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561" y="5807412"/>
            <a:ext cx="448373" cy="22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’27.Q3</a:t>
            </a:r>
          </a:p>
        </p:txBody>
      </p:sp>
      <p:sp>
        <p:nvSpPr>
          <p:cNvPr id="25" name="Oval 36">
            <a:extLst xmlns:a="http://schemas.openxmlformats.org/drawingml/2006/main">
              <a:ext uri="{FF2B5EF4-FFF2-40B4-BE49-F238E27FC236}">
                <a16:creationId xmlns:a16="http://schemas.microsoft.com/office/drawing/2014/main" id="{E7281D5A-7A4B-C311-C518-10DA692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346" y="6045406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4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31F7EAB7-F458-F247-C04E-69C0B50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623" y="5814353"/>
            <a:ext cx="498067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’26.6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6" name="Oval 36">
            <a:extLst xmlns:a="http://schemas.openxmlformats.org/drawingml/2006/main">
              <a:ext uri="{FF2B5EF4-FFF2-40B4-BE49-F238E27FC236}">
                <a16:creationId xmlns:a16="http://schemas.microsoft.com/office/drawing/2014/main" id="{8BA0757C-5088-A823-7033-EDE0721C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799" y="6065105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1FB405B2-6B34-8DCB-C0BA-2FF329D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684" y="76201"/>
            <a:ext cx="2488265" cy="3772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영문 </a:t>
            </a:r>
            <a:r>
              <a:rPr sz="1100"/>
              <a:t>Corbel</a:t>
            </a:r>
            <a:br/>
            <a:r>
              <a:rPr sz="1100"/>
              <a:t>한글 </a:t>
            </a:r>
            <a:r>
              <a:rPr sz="1100"/>
              <a:t>나눔스퀘어</a:t>
            </a:r>
            <a:r>
              <a:rPr sz="1100"/>
              <a:t> </a:t>
            </a:r>
            <a:r>
              <a:rPr sz="1100"/>
              <a:t>(</a:t>
            </a:r>
            <a:r>
              <a:rPr sz="1100"/>
              <a:t>제목은 </a:t>
            </a:r>
            <a:r>
              <a:rPr sz="1100"/>
              <a:t>ExtraBold</a:t>
            </a:r>
            <a:r>
              <a:rPr sz="1100"/>
              <a:t>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6589928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d</a:t>
            </a:r>
          </a:p>
        </p:txBody>
      </p:sp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TTT</a:t>
            </a:r>
          </a:p>
          <a:p xmlns:a="http://schemas.openxmlformats.org/drawingml/2006/main">
            <a:pPr lvl="1">
              <a:buNone/>
            </a:pPr>
            <a:r>
              <a:t>TT</a:t>
            </a:r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협의  </a:t>
            </a: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소극적 입장 유지</a:t>
            </a:r>
            <a:endParaRPr/>
          </a:p>
          <a:p xmlns:a="http://schemas.openxmlformats.org/drawingml/2006/main">
            <a:pPr lvl="4">
              <a:buNone/>
            </a:pPr>
            <a:r>
              <a:t>수용</a:t>
            </a:r>
          </a:p>
          <a:p xmlns:a="http://schemas.openxmlformats.org/drawingml/2006/main">
            <a:pPr lvl="4">
              <a:buNone/>
            </a:pPr>
            <a:r>
              <a:t>신중한 입장 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32060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xx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1" y="6647300"/>
            <a:ext cx="935033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1)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Sodium Fast Reactor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2)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사업자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-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규제기관 間 협업 플랫폼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기술 이해도 제고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해외규제사례 분석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안전현안 검토 및 해소방안 논의 등 수행 예정      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3)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원자력통제기술원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핵물질 통제 및 원전 방호 관련 규제업무 수행 </a:t>
            </a:r>
            <a:endParaRPr sz="8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34221732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d</a:t>
            </a:r>
          </a:p>
        </p:txBody>
      </p:sp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50000"/>
                  </a:schemeClr>
                </a:solidFill>
              </a:rPr>
              <a:t>TTT</a:t>
            </a:r>
          </a:p>
          <a:p xmlns:a="http://schemas.openxmlformats.org/drawingml/2006/main">
            <a:pPr lvl="1">
              <a:buFont typeface="+mj-lt"/>
              <a:buAutoNum type="arabicParenR" startAt="2"/>
            </a:pPr>
            <a:r>
              <a:t>ㅌㅌ</a:t>
            </a:r>
            <a:endParaRPr/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ㅌㅌ</a:t>
            </a:r>
            <a:endParaRPr b="1">
              <a:latin typeface="Corbel"/>
              <a:ea typeface="Corbel"/>
              <a:cs typeface="Corbel"/>
            </a:endParaRPr>
          </a:p>
          <a:p xmlns:a="http://schemas.openxmlformats.org/drawingml/2006/main">
            <a:pPr marL="535305" lvl="2" indent="0">
              <a:spcBef>
                <a:spcPts val="1000"/>
              </a:spcBef>
              <a:buNone/>
            </a:pPr>
            <a:br/>
            <a:br/>
            <a:br/>
            <a:endParaRPr b="1"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lvl="2" indent="-179070">
              <a:spcBef>
                <a:spcPts val="1500"/>
              </a:spcBef>
              <a:buNone/>
            </a:pPr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marL="535305" lvl="2" indent="0">
              <a:spcBef>
                <a:spcPts val="1500"/>
              </a:spcBef>
              <a:buNone/>
            </a:pPr>
            <a:br/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lvl="2" indent="-179070">
              <a:spcBef>
                <a:spcPts val="15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ㅇㅇ</a:t>
            </a:r>
            <a:endParaRPr b="1" baseline="30000">
              <a:latin typeface="Corbel"/>
              <a:ea typeface="Corbel"/>
              <a:cs typeface="Corbel"/>
            </a:endParaRP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ㅇ中 </a:t>
            </a:r>
            <a:endParaRPr/>
          </a:p>
          <a:p xmlns:a="http://schemas.openxmlformats.org/drawingml/2006/main">
            <a:pPr lvl="4">
              <a:buNone/>
            </a:pPr>
            <a:r>
              <a:t>ㅇ선정</a:t>
            </a:r>
            <a:r>
              <a:t> 中</a:t>
            </a:r>
            <a:endParaRPr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endParaRPr sz="700"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endParaRPr sz="600"/>
          </a:p>
          <a:p xmlns:a="http://schemas.openxmlformats.org/drawingml/2006/main">
            <a:pPr lvl="4">
              <a:buNone/>
            </a:pPr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</a:endParaRPr>
          </a:p>
          <a:p xmlns:a="http://schemas.openxmlformats.org/drawingml/2006/main">
            <a:pPr lvl="2" indent="-179070">
              <a:spcBef>
                <a:spcPts val="25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협력</a:t>
            </a:r>
          </a:p>
          <a:p xmlns:a="http://schemas.openxmlformats.org/drawingml/2006/main">
            <a:pPr lvl="3">
              <a:buNone/>
            </a:pPr>
            <a:r>
              <a:t>ㅇㅇ</a:t>
            </a:r>
            <a:endParaRPr/>
          </a:p>
          <a:p xmlns:a="http://schemas.openxmlformats.org/drawingml/2006/main">
            <a:pPr lvl="4">
              <a:buNone/>
            </a:pPr>
            <a:r>
              <a:t>ㅇ</a:t>
            </a:r>
            <a:r>
              <a:t> 中</a:t>
            </a:r>
            <a:endParaRPr/>
          </a:p>
          <a:p xmlns:a="http://schemas.openxmlformats.org/drawingml/2006/main">
            <a:pPr marL="714375" lvl="3" indent="0">
              <a:buNone/>
            </a:pPr>
            <a:r>
              <a:t> </a:t>
            </a:r>
            <a:r>
              <a:rPr b="1" u="sng"/>
              <a:t>MOU </a:t>
            </a:r>
            <a:r>
              <a:rPr b="1" u="sng"/>
              <a:t>추진</a:t>
            </a:r>
            <a:endParaRPr b="1" u="sng"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 baseline="30000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5610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ㅇㅇ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1" y="6647300"/>
            <a:ext cx="935033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1)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Sodium Fast Reactor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2)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사업자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-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규제기관 間 협업 플랫폼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기술 이해도 제고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해외규제사례 분석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안전현안 검토 및 해소방안 논의 등 수행 예정      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3)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원자력통제기술원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핵물질 통제 및 원전 방호 관련 규제업무 수행 </a:t>
            </a:r>
            <a:endParaRPr sz="8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19" name="표 3"/>
          <p:cNvGraphicFramePr/>
          <p:nvPr/>
        </p:nvGraphicFramePr>
        <p:xfrm>
          <a:off xmlns:a="http://schemas.openxmlformats.org/drawingml/2006/main" x="2649537" y="4733337"/>
          <a:ext xmlns:a="http://schemas.openxmlformats.org/drawingml/2006/main" cx="6875461" cy="7612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5638"/>
                <a:gridCol w="2638425"/>
                <a:gridCol w="2057400"/>
                <a:gridCol w="733425"/>
                <a:gridCol w="790573"/>
              </a:tblGrid>
              <a:tr h="125245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지자체 지원 및 유치 적극성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송전</a:t>
                      </a: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Infra</a:t>
                      </a:r>
                      <a:endParaRPr sz="1050" b="1" kern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주민수용성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높음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i="0" u="none" kern="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보유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높음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i="0" u="none" kern="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보유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SMR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한정 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4409182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graphicFrame>
        <p:nvGraphicFramePr>
          <p:cNvPr id="21" name="표 6"/>
          <p:cNvGraphicFramePr/>
          <p:nvPr/>
        </p:nvGraphicFramePr>
        <p:xfrm>
          <a:off xmlns:a="http://schemas.openxmlformats.org/drawingml/2006/main" x="2649536" y="2297072"/>
          <a:ext xmlns:a="http://schemas.openxmlformats.org/drawingml/2006/main" cx="6875461" cy="11319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373"/>
                <a:gridCol w="2096655"/>
                <a:gridCol w="3133433"/>
              </a:tblGrid>
              <a:tr h="213706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endParaRPr sz="1000" b="1" kern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1963685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3E51F62C-ACCB-5415-8C2B-911AC020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220" y="1063668"/>
            <a:ext cx="2488265" cy="3772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동일 주제 </a:t>
            </a:r>
            <a:r>
              <a:rPr sz="1100"/>
              <a:t>(TTT)</a:t>
            </a:r>
            <a:r>
              <a:rPr sz="1100"/>
              <a:t>에 하위 내용 추가 시 제목 색깔 변경 필요</a:t>
            </a:r>
          </a:p>
        </p:txBody>
      </p:sp>
    </p:spTree>
    <p:extLst>
      <p:ext uri="{BB962C8B-B14F-4D97-AF65-F5344CB8AC3E}">
        <p14:creationId xmlns:p14="http://schemas.microsoft.com/office/powerpoint/2010/main" val="1285330576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2026-08-08T14:51:07.4090000Z</dcterms:created>
  <dcterms:modified xsi:type="dcterms:W3CDTF">2026-08-08T14:51:07.4090000Z</dcterms:modified>
</coreProperties>
</file>