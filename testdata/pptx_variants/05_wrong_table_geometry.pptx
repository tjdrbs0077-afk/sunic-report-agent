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a80dcccbed4aa6" /><Relationship Type="http://schemas.openxmlformats.org/officeDocument/2006/relationships/extended-properties" Target="/docProps/app.xml" Id="Rb0c29c84c85a4ded" /><Relationship Type="http://schemas.openxmlformats.org/officeDocument/2006/relationships/officeDocument" Target="/ppt/presentation.xml" Id="Ree75fb7ab1cd4c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cb2ccf98464856"/>
  </p:sldMasterIdLst>
  <p:notesMasterIdLst>
    <p:notesMasterId xmlns:r="http://schemas.openxmlformats.org/officeDocument/2006/relationships" r:id="R61cc25bd4ad94414"/>
  </p:notesMasterIdLst>
  <p:sldIdLst>
    <p:sldId xmlns:r="http://schemas.openxmlformats.org/officeDocument/2006/relationships" id="256" r:id="R3e77aad7385f439b"/>
    <p:sldId xmlns:r="http://schemas.openxmlformats.org/officeDocument/2006/relationships" id="257" r:id="R8da7428dfeb548de"/>
    <p:sldId xmlns:r="http://schemas.openxmlformats.org/officeDocument/2006/relationships" id="258" r:id="Re0a567fe7e0f4675"/>
  </p:sldIdLst>
  <p:sldSz cx="9906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65b0d955d144b9" /><Relationship Type="http://schemas.openxmlformats.org/officeDocument/2006/relationships/slideMaster" Target="/ppt/slideMasters/slideMaster1.xml" Id="R5fcb2ccf98464856" /><Relationship Type="http://schemas.openxmlformats.org/officeDocument/2006/relationships/notesMaster" Target="/ppt/notesMasters/notesMaster1.xml" Id="R61cc25bd4ad94414" /><Relationship Type="http://schemas.openxmlformats.org/officeDocument/2006/relationships/presProps" Target="/ppt/presProps.xml" Id="R73a7ea78c27243a8" /><Relationship Type="http://schemas.openxmlformats.org/officeDocument/2006/relationships/viewProps" Target="/ppt/viewProps.xml" Id="R94fbe570ef2045b2" /><Relationship Type="http://schemas.openxmlformats.org/officeDocument/2006/relationships/tableStyles" Target="/ppt/tableStyles.xml" Id="R19278e096d7b4576" /><Relationship Type="http://schemas.openxmlformats.org/officeDocument/2006/relationships/slide" Target="/ppt/slides/slide1.xml" Id="R3e77aad7385f439b" /><Relationship Type="http://schemas.openxmlformats.org/officeDocument/2006/relationships/slide" Target="/ppt/slides/slide2.xml" Id="R8da7428dfeb548de" /><Relationship Type="http://schemas.openxmlformats.org/officeDocument/2006/relationships/slide" Target="/ppt/slides/slide3.xml" Id="Re0a567fe7e0f46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0810a8c1dd44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487b10af4e4c41" /><Relationship Type="http://schemas.openxmlformats.org/officeDocument/2006/relationships/notesMaster" Target="/ppt/notesMasters/notesMaster1.xml" Id="Rf6af74d5b2dd43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023564b4564f74" /><Relationship Type="http://schemas.openxmlformats.org/officeDocument/2006/relationships/notesMaster" Target="/ppt/notesMasters/notesMaster1.xml" Id="R96b3edab055248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b0b7f6de02443b" /><Relationship Type="http://schemas.openxmlformats.org/officeDocument/2006/relationships/notesMaster" Target="/ppt/notesMasters/notesMaster1.xml" Id="R1dacd8cfdd814d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FontTx/>
              <a:buNone/>
            </a:pPr>
            <a:r>
              <a:t>[Sources]</a:t>
            </a:r>
            <a:endParaRPr/>
          </a:p>
          <a:p xmlns:a="http://schemas.openxmlformats.org/drawingml/2006/main">
            <a:pPr marL="0" indent="0">
              <a:buFontTx/>
              <a:buNone/>
            </a:pPr>
            <a:r>
              <a:t>- 기준 양식: app/assets/보고양식_Sample_4팀.pptx</a:t>
            </a:r>
            <a:endParaRPr/>
          </a:p>
          <a:p xmlns:a="http://schemas.openxmlformats.org/drawingml/2006/main">
            <a:pPr marL="0" indent="0">
              <a:buFontTx/>
              <a:buNone/>
            </a:pPr>
            <a:r>
              <a:t>- 테스트 목적: 표 위치·너비 오류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FontTx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FontTx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14241ec1c0405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7933c47ea642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9a3fe909c0477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10c9e758044ca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ecc8b2c8bb437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de1d5e095b486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9d7da00c624e2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97af20f08845c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05a6e3707b4f6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410ef57655493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2854feec7c479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52902b2dae433b" /></Relationships>
</file>

<file path=ppt/slideLayouts/slideLayout1.xml><?xml version="1.0" encoding="utf-8"?>
<p:sldLayout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3695979-56B8-43C4-BF0E-4799AF3A718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742950" y="1122363"/>
            <a:ext cx="84201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C523D2F-FF6E-4223-AC09-CFAB3B4DAD7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38250" y="3602038"/>
            <a:ext cx="74295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클릭하여 마스터 부제목 스타일 편집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436F092-03FA-4164-84A1-71BDF6B828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36193F-73EA-43E3-8070-6E6AF3AAA9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B9ABB12-3683-4CAD-BD47-F303C6B665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499C5-935B-4431-A2A3-C013486028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24DE796-71F3-46E8-8EF3-A2FB6C1A7F5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1F75EA6-1A52-45CD-B973-D09847D881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E7EE3F8-87EC-42D2-84DE-5CFC73995C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BD85CC7-089C-4D1A-98AC-A676239F03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B0171DE-3FD3-43AA-A2F4-097C0DEC8B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5879" y="1709740"/>
            <a:ext cx="8543925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B8EBB7A-FB55-4157-84BA-B10C2B676F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879" y="4589465"/>
            <a:ext cx="8543925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7A781EE-F3B6-407F-A6A5-C0506D304B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EEFBFE-A009-48E8-A1E5-F50BFFA2F7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F89B8B-895C-4A8B-BF99-7094E438D8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11349C-5310-44E2-BDA1-2D112FDD25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78D3565-15EB-423A-A901-BFC66D43158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81038" y="1825625"/>
            <a:ext cx="421005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DDA2F78-389B-476B-8CA4-ED8186AFF8C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014913" y="1825625"/>
            <a:ext cx="421005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6C719EA-9F9F-4310-BC5C-D2B7CE50935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E719031-F8CB-455B-AFE6-EE670A9736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229127D-2D2E-4857-8914-AEA094CD0F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5ECC6F-42F6-4791-8E8E-D69B799399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2328" y="365127"/>
            <a:ext cx="8543925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AAD178C-8C13-4D35-A8F6-2591ECB3FF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2329" y="1681163"/>
            <a:ext cx="4190702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C012686-3A19-4272-8E29-E8F8D249FE7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82329" y="2505075"/>
            <a:ext cx="4190702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F27F9E1-4B2C-460B-AADE-0B9F6C09245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014913" y="1681163"/>
            <a:ext cx="4211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45B36503-6E01-4709-BF1D-363E735E1B1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5014913" y="2505075"/>
            <a:ext cx="4211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820AA95E-C551-4CD9-813E-05E42324B4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F4FFEEA-1086-4490-8162-03201E19F4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AF8F54F3-F288-483A-83E8-4639D65BAA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775F9A-0F6A-4672-95D8-5C0314DB45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258767C-5CDB-46C6-9AB9-1CC284FE8E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3179522-9169-47E4-9499-AB91B603AE8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2D32761-7714-4318-960D-6DCE654298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C16EF3D-53C6-4984-9915-D2680E093B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AC26DFB8-843A-4088-949B-729B479450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F964225-47C8-4622-AED7-1048954D74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9C0D42-6D3E-4F0A-8C61-82DCBDC8CE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2328" y="457200"/>
            <a:ext cx="3194943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354A0A6-3F4E-416C-B940-382A81BA91E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211340" y="987427"/>
            <a:ext cx="5014913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7969145-8E99-488A-A637-C5457AC934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2328" y="2057400"/>
            <a:ext cx="3194943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F5DFC02-18BC-4EC1-870C-B15CEF9CAB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E9DDE1C-1BDC-426C-A1B5-69670A39D3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4FFD6BB-E538-4D1C-8D7B-A7098A580D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266FD84-3BB2-4E8C-B189-A6420EA201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2328" y="457200"/>
            <a:ext cx="3194943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3D721D4-D6BE-43CC-87CD-86F760D67F2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4211340" y="987427"/>
            <a:ext cx="5014913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그림을 추가하려면 아이콘을 클릭하십시오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1F34943-A019-42D6-8508-9BB73B4249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2328" y="2057400"/>
            <a:ext cx="3194943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5871F94-DE49-432D-886F-0BA546181F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C212D52-0702-40E2-8EB1-391EC85B8C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96A646E-92D7-430F-A8F5-BD4C5A7603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712C83B-208D-44BE-9CC1-7A96A99A80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894B72B-B1A0-4B7C-9146-4B383A7D3C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28360E5-C5FF-4A74-9B8D-1CBAA79189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9037E-0C81-4002-8382-F01F9CFBC42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01402E4-A84B-49C7-BDED-D1F20CA102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E258ADA-DC40-423F-B93A-6F9C2376C9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88982" y="365125"/>
            <a:ext cx="2135981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32B04FB-4C42-4207-9A24-74B74ECD7F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1038" y="365125"/>
            <a:ext cx="6284119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FE0EDF6-F549-4313-912A-9432C1F777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6751D13-C457-4762-8F5D-AFD6B75375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075D3AC-6E98-4C35-BDE8-238F74520E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userDrawn="1">
  <p:cSld name="7_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슬라이드 번호 개체 틀 16">
            <a:extLst xmlns:a="http://schemas.openxmlformats.org/drawingml/2006/main">
              <a:ext uri="{FF2B5EF4-FFF2-40B4-BE49-F238E27FC236}">
                <a16:creationId xmlns:a16="http://schemas.microsoft.com/office/drawing/2014/main" id="{17C0CEF6-4C72-4D30-9705-CFD99F6A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3290" y="6623050"/>
            <a:ext cx="2311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rIns="36000"/>
          <a:lstStyle xmlns:a="http://schemas.openxmlformats.org/drawingml/2006/main">
            <a:lvl1pPr>
              <a:buNone/>
              <a:defRPr sz="1100" b="1">
                <a:solidFill>
                  <a:schemeClr val="tx1"/>
                </a:solidFill>
                <a:latin typeface="Trebuchet MS"/>
                <a:ea typeface="Trebuchet MS"/>
                <a:cs typeface="Trebuchet MS"/>
              </a:defRPr>
            </a:lvl1pPr>
          </a:lstStyle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0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fld id="{7C14344A-CACA-478F-85C5-D0BB66BC0415}" type="slidenum">
              <a:rPr sz="10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‹#›</a:t>
            </a:fld>
            <a:endParaRPr sz="10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graphicFrame>
        <p:nvGraphicFramePr>
          <p:cNvPr id="15" name="표 7"/>
          <p:cNvGraphicFramePr/>
          <p:nvPr/>
        </p:nvGraphicFramePr>
        <p:xfrm>
          <a:off xmlns:a="http://schemas.openxmlformats.org/drawingml/2006/main" x="273051" y="631784"/>
          <a:ext xmlns:a="http://schemas.openxmlformats.org/drawingml/2006/main" cx="9372502" cy="5965865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1379"/>
                <a:gridCol w="7991123"/>
              </a:tblGrid>
              <a:tr h="327209">
                <a:tc>
                  <a:txBody>
                    <a:bodyPr/>
                    <a:lstStyle/>
                    <a:p>
                      <a:pPr mar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u="none">
                          <a:solidFill>
                            <a:schemeClr val="tx1"/>
                          </a:solidFill>
                          <a:latin typeface="나눔스퀘어 ExtraBold"/>
                          <a:ea typeface="나눔스퀘어 ExtraBold"/>
                          <a:cs typeface="나눔스퀘어 ExtraBold"/>
                        </a:rPr>
                        <a:t>구 분</a:t>
                      </a:r>
                    </a:p>
                  </a:txBody>
                  <a:tcPr anchor="ctr">
                    <a:lnL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400" b="1" u="none">
                          <a:solidFill>
                            <a:schemeClr val="tx1"/>
                          </a:solidFill>
                          <a:latin typeface="나눔스퀘어 ExtraBold"/>
                          <a:ea typeface="나눔스퀘어 ExtraBold"/>
                          <a:cs typeface="나눔스퀘어 ExtraBold"/>
                        </a:rPr>
                        <a:t>주요 내용</a:t>
                      </a:r>
                      <a:endParaRPr sz="1400" b="1" u="none" kern="1200" baseline="0">
                        <a:solidFill>
                          <a:schemeClr val="tx1"/>
                        </a:solidFill>
                        <a:latin typeface="나눔스퀘어 ExtraBold"/>
                        <a:ea typeface="나눔스퀘어 ExtraBold"/>
                        <a:cs typeface="나눔스퀘어 ExtraBold"/>
                      </a:endParaRPr>
                    </a:p>
                  </a:txBody>
                  <a:tcPr anchor="ctr">
                    <a:lnL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5638656">
                <a:tc>
                  <a:txBody>
                    <a:bodyPr/>
                    <a:lstStyle/>
                    <a:p>
                      <a:pPr algn="ctr" defTabSz="895350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SzPct val="120000"/>
                        <a:buNone/>
                      </a:pPr>
                      <a:endParaRPr sz="1400" b="1" u="none" baseline="0"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</a:endParaRPr>
                    </a:p>
                  </a:txBody>
                  <a:tcPr anchor="ctr">
                    <a:lnL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+mj-lt"/>
                        <a:buNone/>
                      </a:pP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</a:endParaRPr>
                    </a:p>
                    <a:p>
                      <a:pPr marL="719138" marR="0" lvl="1" indent="-92075" algn="l" defTabSz="914400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Char char="-"/>
                        <a:tabLst>
                          <a:tab pos="269875" algn="l"/>
                          <a:tab pos="627063" algn="l"/>
                        </a:tabLst>
                      </a:pP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</a:endParaRPr>
                    </a:p>
                    <a:p>
                      <a:pPr marL="719138" marR="0" lvl="1" indent="-92075" algn="l" defTabSz="914400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Char char="-"/>
                        <a:tabLst>
                          <a:tab pos="269875" algn="l"/>
                          <a:tab pos="627063" algn="l"/>
                        </a:tabLst>
                      </a:pP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</a:endParaRPr>
                    </a:p>
                    <a:p>
                      <a:pPr marL="719138" marR="0" lvl="1" indent="-92075" algn="l" defTabSz="914400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Char char="-"/>
                        <a:tabLst>
                          <a:tab pos="269875" algn="l"/>
                          <a:tab pos="627063" algn="l"/>
                        </a:tabLst>
                      </a:pPr>
                      <a:endParaRPr sz="1200" b="0" i="0" u="non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Tahoma"/>
                        <a:ea typeface="Tahoma"/>
                        <a:cs typeface="Tahoma"/>
                      </a:endParaRPr>
                    </a:p>
                  </a:txBody>
                  <a:tcPr marR="0" marT="252000" marB="46800">
                    <a:lnL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텍스트 개체 틀 11">
            <a:extLst xmlns:a="http://schemas.openxmlformats.org/drawingml/2006/main">
              <a:ext uri="{FF2B5EF4-FFF2-40B4-BE49-F238E27FC236}">
                <a16:creationId xmlns:a16="http://schemas.microsoft.com/office/drawing/2014/main" id="{D7100E2C-1F59-48AA-BF2B-F46311160B6F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658938" y="1196975"/>
            <a:ext cx="7986615" cy="518477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65113" indent="-265113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  <a:defRPr sz="1400" b="1" kern="1200" baseline="0">
                <a:solidFill>
                  <a:prstClr val="black"/>
                </a:solidFill>
                <a:latin typeface="Corbel"/>
                <a:ea typeface="Corbel"/>
                <a:cs typeface="Corbel"/>
              </a:defRPr>
            </a:lvl1pPr>
            <a:lvl2pPr marL="538163" indent="-266700">
              <a:spcBef>
                <a:spcPts val="1000"/>
              </a:spcBef>
              <a:spcAft>
                <a:spcPts val="0"/>
              </a:spcAft>
              <a:buFont typeface="+mj-lt"/>
              <a:buAutoNum type="arabicParenR"/>
              <a:defRPr sz="1300" b="1" baseline="0">
                <a:latin typeface="Corbel"/>
                <a:ea typeface="Corbel"/>
                <a:cs typeface="Corbel"/>
              </a:defRPr>
            </a:lvl2pPr>
            <a:lvl3pPr marL="714375" indent="-179388">
              <a:spcBef>
                <a:spcPts val="500"/>
              </a:spcBef>
              <a:spcAft>
                <a:spcPts val="0"/>
              </a:spcAft>
              <a:buFont typeface="Wingdings"/>
              <a:buChar char=""/>
              <a:defRPr sz="1200" b="0" kern="1200" baseline="0">
                <a:solidFill>
                  <a:schemeClr val="tx1"/>
                </a:solidFill>
                <a:latin typeface="나눔스퀘어"/>
                <a:ea typeface="나눔스퀘어"/>
                <a:cs typeface="나눔스퀘어"/>
              </a:defRPr>
            </a:lvl3pPr>
            <a:lvl4pPr marL="892175" indent="-177800">
              <a:spcBef>
                <a:spcPts val="500"/>
              </a:spcBef>
              <a:spcAft>
                <a:spcPts val="0"/>
              </a:spcAft>
              <a:buFont typeface="Arial"/>
              <a:buChar char="–"/>
              <a:defRPr sz="1100" b="0" baseline="0">
                <a:latin typeface="Corbel"/>
                <a:ea typeface="Corbel"/>
                <a:cs typeface="Corbel"/>
              </a:defRPr>
            </a:lvl4pPr>
            <a:lvl5pPr marL="1081088" indent="-188913">
              <a:spcBef>
                <a:spcPts val="500"/>
              </a:spcBef>
              <a:spcAft>
                <a:spcPts val="0"/>
              </a:spcAft>
              <a:buFont typeface="Arial"/>
              <a:buChar char="•"/>
              <a:defRPr sz="1000" b="0" baseline="0">
                <a:latin typeface="Corbel"/>
                <a:ea typeface="Corbel"/>
                <a:cs typeface="Corbel"/>
              </a:defRPr>
            </a:lvl5pPr>
          </a:lstStyle>
          <a:p xmlns:a="http://schemas.openxmlformats.org/drawingml/2006/main">
            <a:pPr lvl="0">
              <a:buNone/>
            </a:pPr>
            <a:r>
              <a:t>대 제목</a:t>
            </a:r>
            <a:endParaRPr/>
          </a:p>
          <a:p xmlns:a="http://schemas.openxmlformats.org/drawingml/2006/main">
            <a:pPr lvl="1">
              <a:buNone/>
            </a:pPr>
            <a:r>
              <a:t>두번째</a:t>
            </a:r>
            <a:endParaRPr/>
          </a:p>
          <a:p xmlns:a="http://schemas.openxmlformats.org/drawingml/2006/main">
            <a:pPr lvl="2">
              <a:buNone/>
            </a:pP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Level 1 </a:t>
            </a:r>
            <a:br/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* Level 1 </a:t>
            </a: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참고</a:t>
            </a: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 </a:t>
            </a: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시</a:t>
            </a:r>
            <a:br/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 Level 2 </a:t>
            </a: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소결시</a:t>
            </a:r>
            <a:r>
              <a:rPr sz="1200" b="1" i="0" u="none" cap="none">
                <a:ln>
                  <a:noFill/>
                </a:ln>
                <a:solidFill>
                  <a:prstClr val="black"/>
                </a:solidFill>
                <a:latin typeface="Tahoma"/>
                <a:ea typeface="Tahoma"/>
                <a:cs typeface="Tahoma"/>
              </a:rPr>
              <a:t> </a:t>
            </a:r>
            <a:endParaRPr sz="1200" b="1">
              <a:latin typeface="Tahoma"/>
              <a:ea typeface="Tahoma"/>
              <a:cs typeface="Tahoma"/>
            </a:endParaRPr>
          </a:p>
          <a:p xmlns:a="http://schemas.openxmlformats.org/drawingml/2006/main">
            <a:pPr lvl="3">
              <a:buNone/>
            </a:pPr>
            <a:r>
              <a:t>Level 2</a:t>
            </a:r>
            <a:br/>
            <a:r>
              <a:t>* Level 2 </a:t>
            </a:r>
            <a:r>
              <a:t>참고시</a:t>
            </a:r>
            <a:r>
              <a:t> </a:t>
            </a:r>
            <a:br/>
            <a:r>
              <a:t> Level 2 </a:t>
            </a:r>
            <a:r>
              <a:t>소결시</a:t>
            </a:r>
            <a:r>
              <a:t> </a:t>
            </a:r>
          </a:p>
          <a:p xmlns:a="http://schemas.openxmlformats.org/drawingml/2006/main">
            <a:pPr lvl="4">
              <a:buNone/>
            </a:pPr>
            <a:r>
              <a:t>Level 3</a:t>
            </a:r>
            <a:br/>
            <a:r>
              <a:t>* Level 3 </a:t>
            </a:r>
            <a:r>
              <a:t>의</a:t>
            </a:r>
            <a:r>
              <a:t> </a:t>
            </a:r>
            <a:r>
              <a:t>참고 </a:t>
            </a:r>
            <a:br/>
            <a:r>
              <a:t> level 3 </a:t>
            </a:r>
            <a:r>
              <a:t>의</a:t>
            </a:r>
            <a:r>
              <a:t> </a:t>
            </a:r>
            <a:r>
              <a:t>소결</a:t>
            </a:r>
            <a:endParaRPr/>
          </a:p>
          <a:p xmlns:a="http://schemas.openxmlformats.org/drawingml/2006/main">
            <a:pPr lvl="4">
              <a:buNone/>
            </a:pPr>
            <a:endParaRPr/>
          </a:p>
          <a:p xmlns:a="http://schemas.openxmlformats.org/drawingml/2006/main">
            <a:pPr lvl="1">
              <a:buNone/>
            </a:pP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0ab2935c6642ad" /><Relationship Type="http://schemas.openxmlformats.org/officeDocument/2006/relationships/slideLayout" Target="/ppt/slideLayouts/slideLayout1.xml" Id="R5eb440cc3fa6467f" /><Relationship Type="http://schemas.openxmlformats.org/officeDocument/2006/relationships/slideLayout" Target="/ppt/slideLayouts/slideLayout2.xml" Id="Rf6bf48b9a150465d" /><Relationship Type="http://schemas.openxmlformats.org/officeDocument/2006/relationships/slideLayout" Target="/ppt/slideLayouts/slideLayout3.xml" Id="Rfddf4e1b755a403c" /><Relationship Type="http://schemas.openxmlformats.org/officeDocument/2006/relationships/slideLayout" Target="/ppt/slideLayouts/slideLayout4.xml" Id="Rdc391e79690a479d" /><Relationship Type="http://schemas.openxmlformats.org/officeDocument/2006/relationships/slideLayout" Target="/ppt/slideLayouts/slideLayout5.xml" Id="R2a27e6ebfcea41ad" /><Relationship Type="http://schemas.openxmlformats.org/officeDocument/2006/relationships/slideLayout" Target="/ppt/slideLayouts/slideLayout6.xml" Id="R156d1c882f0c4aaf" /><Relationship Type="http://schemas.openxmlformats.org/officeDocument/2006/relationships/slideLayout" Target="/ppt/slideLayouts/slideLayout7.xml" Id="Re6d4cdd440e246d0" /><Relationship Type="http://schemas.openxmlformats.org/officeDocument/2006/relationships/slideLayout" Target="/ppt/slideLayouts/slideLayout8.xml" Id="Rfd68a691fb1e4fb9" /><Relationship Type="http://schemas.openxmlformats.org/officeDocument/2006/relationships/slideLayout" Target="/ppt/slideLayouts/slideLayout9.xml" Id="R59920f61e3f540f0" /><Relationship Type="http://schemas.openxmlformats.org/officeDocument/2006/relationships/slideLayout" Target="/ppt/slideLayouts/slideLayout10.xml" Id="Rbb39a7191b1c49b4" /><Relationship Type="http://schemas.openxmlformats.org/officeDocument/2006/relationships/slideLayout" Target="/ppt/slideLayouts/slideLayout11.xml" Id="R2da2ed55a7144cf1" /><Relationship Type="http://schemas.openxmlformats.org/officeDocument/2006/relationships/slideLayout" Target="/ppt/slideLayouts/slideLayout12.xml" Id="R9743d71dae6d42b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423D76C-AB68-45A8-B8DD-1B861FEF6E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1038" y="365127"/>
            <a:ext cx="8543925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532080C-54A7-46D7-B194-6F90F264EC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1038" y="1825625"/>
            <a:ext cx="8543925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19E5D8A-FFFE-47FC-9902-7ACB3B164F4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81038" y="6356352"/>
            <a:ext cx="222885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722D954D-7B2B-4481-B88B-C9F4214C793B}" type="datetimeFigureOut">
              <a:t>2026-07-27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6517812-61B3-461A-86EE-410066225AB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281363" y="6356352"/>
            <a:ext cx="334327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CD8E694-FCEC-468D-BBC6-DDAC9220EE2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996113" y="6356352"/>
            <a:ext cx="222885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E971BFBA-D785-4542-9D27-6CD9D543ECD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b440cc3fa6467f"/>
    <p:sldLayoutId xmlns:r="http://schemas.openxmlformats.org/officeDocument/2006/relationships" id="2147483650" r:id="Rf6bf48b9a150465d"/>
    <p:sldLayoutId xmlns:r="http://schemas.openxmlformats.org/officeDocument/2006/relationships" id="2147483651" r:id="Rfddf4e1b755a403c"/>
    <p:sldLayoutId xmlns:r="http://schemas.openxmlformats.org/officeDocument/2006/relationships" id="2147483652" r:id="Rdc391e79690a479d"/>
    <p:sldLayoutId xmlns:r="http://schemas.openxmlformats.org/officeDocument/2006/relationships" id="2147483653" r:id="R2a27e6ebfcea41ad"/>
    <p:sldLayoutId xmlns:r="http://schemas.openxmlformats.org/officeDocument/2006/relationships" id="2147483654" r:id="R156d1c882f0c4aaf"/>
    <p:sldLayoutId xmlns:r="http://schemas.openxmlformats.org/officeDocument/2006/relationships" id="2147483655" r:id="Re6d4cdd440e246d0"/>
    <p:sldLayoutId xmlns:r="http://schemas.openxmlformats.org/officeDocument/2006/relationships" id="2147483656" r:id="Rfd68a691fb1e4fb9"/>
    <p:sldLayoutId xmlns:r="http://schemas.openxmlformats.org/officeDocument/2006/relationships" id="2147483657" r:id="R59920f61e3f540f0"/>
    <p:sldLayoutId xmlns:r="http://schemas.openxmlformats.org/officeDocument/2006/relationships" id="2147483658" r:id="Rbb39a7191b1c49b4"/>
    <p:sldLayoutId xmlns:r="http://schemas.openxmlformats.org/officeDocument/2006/relationships" id="2147483659" r:id="R2da2ed55a7144cf1"/>
    <p:sldLayoutId xmlns:r="http://schemas.openxmlformats.org/officeDocument/2006/relationships" id="2147483660" r:id="R9743d71dae6d42b5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3d307d4097040e5" /><Relationship Type="http://schemas.openxmlformats.org/officeDocument/2006/relationships/notesSlide" Target="/ppt/notesSlides/notesSlide1.xml" Id="R8ee8ba5af36b49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6073c124d5a4bb9" /><Relationship Type="http://schemas.openxmlformats.org/officeDocument/2006/relationships/notesSlide" Target="/ppt/notesSlides/notesSlide2.xml" Id="R9c3a0aad4ba94d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9d1fead095b40b2" /><Relationship Type="http://schemas.openxmlformats.org/officeDocument/2006/relationships/notesSlide" Target="/ppt/notesSlides/notesSlide3.xml" Id="R1c807e03fce2465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B414C624-F1F1-F45E-6306-DC6CC262BB70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658938" y="1097367"/>
            <a:ext cx="7965134" cy="550028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tx1"/>
                </a:solidFill>
              </a:rPr>
              <a:t>AI DC Solution </a:t>
            </a:r>
            <a:r>
              <a:rPr>
                <a:solidFill>
                  <a:schemeClr val="tx1"/>
                </a:solidFill>
              </a:rPr>
              <a:t>확보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lvl="1">
              <a:buNone/>
            </a:pPr>
            <a:r>
              <a:t>SK</a:t>
            </a:r>
          </a:p>
          <a:p xmlns:a="http://schemas.openxmlformats.org/drawingml/2006/main">
            <a:pPr lvl="2" indent="-179070">
              <a:spcBef>
                <a:spcPts val="1000"/>
              </a:spcBef>
              <a:buNone/>
            </a:pPr>
            <a:r>
              <a:rPr b="1">
                <a:latin typeface="Corbel"/>
                <a:ea typeface="Corbel"/>
                <a:cs typeface="Corbel"/>
              </a:rPr>
              <a:t>CEO </a:t>
            </a:r>
            <a:r>
              <a:rPr b="1">
                <a:latin typeface="Corbel"/>
                <a:ea typeface="Corbel"/>
                <a:cs typeface="Corbel"/>
              </a:rPr>
              <a:t>보고 </a:t>
            </a:r>
            <a:endParaRPr b="1" baseline="30000">
              <a:latin typeface="Corbel"/>
              <a:ea typeface="Corbel"/>
              <a:cs typeface="Corbel"/>
            </a:endParaRPr>
          </a:p>
          <a:p xmlns:a="http://schemas.openxmlformats.org/drawingml/2006/main">
            <a:pPr lvl="3">
              <a:spcBef>
                <a:spcPts val="1000"/>
              </a:spcBef>
              <a:buNone/>
            </a:pPr>
            <a:r>
              <a:t>CEO </a:t>
            </a:r>
            <a:r>
              <a:t>向 최종 보고 完</a:t>
            </a:r>
            <a:r>
              <a:t>)</a:t>
            </a:r>
            <a:r>
              <a:t> </a:t>
            </a:r>
            <a:endParaRPr baseline="30000"/>
          </a:p>
          <a:p xmlns:a="http://schemas.openxmlformats.org/drawingml/2006/main">
            <a:pPr lvl="4">
              <a:spcBef>
                <a:spcPts val="1000"/>
              </a:spcBef>
              <a:buNone/>
            </a:pPr>
            <a:r>
              <a:t>실사 결과 보고 </a:t>
            </a:r>
            <a:endParaRPr/>
          </a:p>
          <a:p xmlns:a="http://schemas.openxmlformats.org/drawingml/2006/main">
            <a:pPr lvl="4">
              <a:spcBef>
                <a:spcPts val="1000"/>
              </a:spcBef>
              <a:buNone/>
            </a:pPr>
            <a:r>
              <a:t>멤버사</a:t>
            </a:r>
            <a:endParaRPr/>
          </a:p>
          <a:p xmlns:a="http://schemas.openxmlformats.org/drawingml/2006/main">
            <a:pPr marL="714375" lvl="3" indent="0">
              <a:spcBef>
                <a:spcPts val="800"/>
              </a:spcBef>
              <a:buNone/>
            </a:pPr>
            <a:endParaRPr baseline="30000"/>
          </a:p>
          <a:p xmlns:a="http://schemas.openxmlformats.org/drawingml/2006/main">
            <a:pPr marL="714375" lvl="3" indent="0">
              <a:spcBef>
                <a:spcPts val="800"/>
              </a:spcBef>
              <a:buNone/>
            </a:pPr>
            <a:br/>
            <a:endParaRPr baseline="30000"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r>
              <a:t>Project </a:t>
            </a:r>
            <a:r>
              <a:t>진행 일정</a:t>
            </a:r>
            <a:r>
              <a:t>(</a:t>
            </a:r>
            <a:r>
              <a:t>案</a:t>
            </a:r>
            <a:r>
              <a:t>)</a:t>
            </a:r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/>
          </a:p>
          <a:p xmlns:a="http://schemas.openxmlformats.org/drawingml/2006/main">
            <a:pPr marL="714375" lvl="3" indent="0">
              <a:spcBef>
                <a:spcPts val="1000"/>
              </a:spcBef>
              <a:buNone/>
            </a:pPr>
            <a:endParaRPr/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CE0CA606-66CD-58FC-CA82-FDE3237D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80" y="944562"/>
            <a:ext cx="1391282" cy="56530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89535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</a:pPr>
            <a:r>
              <a:rPr sz="1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AI DC</a:t>
            </a:r>
          </a:p>
          <a:p xmlns:a="http://schemas.openxmlformats.org/drawingml/2006/main">
            <a:pPr marL="0" marR="0" lvl="0" indent="0" algn="ctr" defTabSz="89535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</a:pPr>
            <a:r>
              <a:rPr sz="1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Solution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A8202E5-9A81-C175-C494-86ACBC46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51" y="170119"/>
            <a:ext cx="3364704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r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나눔스퀘어</a:t>
            </a:r>
            <a:r>
              <a:rPr sz="2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sz="2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ExtraBold</a:t>
            </a:r>
            <a:r>
              <a:rPr sz="2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(24)</a:t>
            </a:r>
            <a:endParaRPr sz="24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graphicFrame>
        <p:nvGraphicFramePr>
          <p:cNvPr id="31" name="표 2"/>
          <p:cNvGraphicFramePr/>
          <p:nvPr/>
        </p:nvGraphicFramePr>
        <p:xfrm>
          <a:off xmlns:a="http://schemas.openxmlformats.org/drawingml/2006/main" x="1792319" y="3244787"/>
          <a:ext xmlns:a="http://schemas.openxmlformats.org/drawingml/2006/main" cx="8589931" cy="2123599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9450"/>
                <a:gridCol w="5966012"/>
              </a:tblGrid>
              <a:tr h="202910"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구분</a:t>
                      </a:r>
                    </a:p>
                  </a:txBody>
                  <a:tcPr marL="0" marR="0" marT="36000" marB="36000" anchor="ctr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협의 경과</a:t>
                      </a:r>
                    </a:p>
                  </a:txBody>
                  <a:tcPr marL="0" marR="0" marT="36000" marB="36000" anchor="ctr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</a:tr>
              <a:tr h="362845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SK</a:t>
                      </a:r>
                      <a:endParaRPr sz="1000" b="1" kern="0" baseline="3000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36000" marB="36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u="none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프로젝트</a:t>
                      </a:r>
                      <a:endParaRPr sz="1000" b="0" u="none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u="none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 </a:t>
                      </a:r>
                      <a:r>
                        <a:rPr sz="1000" b="0" u="none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ㅌ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ㅌ</a:t>
                      </a:r>
                      <a:endParaRPr sz="1000" kern="1200" spc="0" baseline="3000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36000" marB="36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62845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SK</a:t>
                      </a:r>
                    </a:p>
                  </a:txBody>
                  <a:tcPr marL="72000" marR="72000" marT="36000" marB="36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IT 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ㅌㅌ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ㅌㅌ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36000" marB="36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29443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SK</a:t>
                      </a:r>
                    </a:p>
                  </a:txBody>
                  <a:tcPr marL="72000" marR="72000" marT="36000" marB="36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ㅌㅌ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  <a:p>
                      <a:pPr marL="361950" marR="0" lvl="1" indent="-180975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Corbel"/>
                        <a:buChar char="−"/>
                        <a:tabLst>
                          <a:tab pos="180975" algn="l"/>
                        </a:tabLst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Phase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①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: 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ㅇ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  <a:p>
                      <a:pPr marL="361950" marR="0" lvl="1" indent="-180975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Corbel"/>
                        <a:buChar char="−"/>
                        <a:tabLst>
                          <a:tab pos="180975" algn="l"/>
                        </a:tabLst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Phase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②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: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 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ㅇㅇ</a:t>
                      </a:r>
                      <a:endParaRPr sz="1000" kern="1200" spc="0" baseline="3000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36000" marB="36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96246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SK</a:t>
                      </a:r>
                    </a:p>
                  </a:txBody>
                  <a:tcPr marL="72000" marR="72000" marT="36000" marB="36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ㅌ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36000" marB="36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02910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SK </a:t>
                      </a:r>
                    </a:p>
                  </a:txBody>
                  <a:tcPr marL="72000" marR="72000" marT="36000" marB="36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ㅌ</a:t>
                      </a:r>
                      <a:endParaRPr sz="1000" kern="1200" spc="0" baseline="3000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36000" marB="36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텍스트 개체 틀 17">
            <a:extLst xmlns:a="http://schemas.openxmlformats.org/drawingml/2006/main">
              <a:ext uri="{FF2B5EF4-FFF2-40B4-BE49-F238E27FC236}">
                <a16:creationId xmlns:a16="http://schemas.microsoft.com/office/drawing/2014/main" id="{9B94B0CC-2598-8646-C878-CF268875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539" y="2908803"/>
            <a:ext cx="6875462" cy="2833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0" rIns="91440" bIns="0" anchor="ctr">
            <a:noAutofit/>
          </a:bodyPr>
          <a:lstStyle xmlns:a="http://schemas.openxmlformats.org/drawingml/2006/main">
            <a:lvl1pPr marL="176213" indent="-176213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/>
              <a:buChar char="§"/>
              <a:defRPr sz="1100" b="1"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360363" indent="-184150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‑"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34988" indent="-174625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※"/>
              <a:defRPr sz="9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/>
              <a:buNone/>
            </a:pPr>
            <a:r>
              <a:rPr sz="11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【</a:t>
            </a:r>
            <a:r>
              <a:rPr sz="11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>
                <a:solidFill>
                  <a:prstClr val="black"/>
                </a:solidFill>
                <a:latin typeface="Corbel"/>
                <a:ea typeface="Corbel"/>
                <a:cs typeface="Corbel"/>
              </a:rPr>
              <a:t>표</a:t>
            </a:r>
            <a:r>
              <a:rPr sz="11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sz="11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】</a:t>
            </a:r>
            <a:r>
              <a:rPr sz="11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</a:p>
        </p:txBody>
      </p:sp>
      <p:sp>
        <p:nvSpPr>
          <p:cNvPr id="8" name="Down Arrow 4">
            <a:extLst xmlns:a="http://schemas.openxmlformats.org/drawingml/2006/main">
              <a:ext uri="{FF2B5EF4-FFF2-40B4-BE49-F238E27FC236}">
                <a16:creationId xmlns:a16="http://schemas.microsoft.com/office/drawing/2014/main" id="{11883B9A-C327-9183-04FA-F4C37AE3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6013903" y="2708415"/>
            <a:ext cx="147320" cy="6834200"/>
          </a:xfrm>
          <a:prstGeom xmlns:a="http://schemas.openxmlformats.org/drawingml/2006/main" prst="downArrow">
            <a:avLst>
              <a:gd name="adj1" fmla="val 42702"/>
              <a:gd name="adj2" fmla="val 50000"/>
            </a:avLst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 w="6350">
            <a:noFill/>
          </a:ln>
        </p:spPr>
        <p:txBody>
          <a:bodyPr xmlns:a="http://schemas.openxmlformats.org/drawingml/2006/main" rot="0" spcFirstLastPara="0" vert="horz" wrap="none" lIns="36000" tIns="36000" rIns="36000" bIns="3600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</a:pPr>
            <a:endParaRPr sz="14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27BB81F4-C9C3-A4FF-0891-73E3A75C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013" y="5807412"/>
            <a:ext cx="539745" cy="2266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72000" tIns="36000" rIns="72000" bIns="36000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</a:pP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’26.11</a:t>
            </a: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월</a:t>
            </a:r>
            <a:endParaRPr sz="9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11" name="Oval 36">
            <a:extLst xmlns:a="http://schemas.openxmlformats.org/drawingml/2006/main">
              <a:ext uri="{FF2B5EF4-FFF2-40B4-BE49-F238E27FC236}">
                <a16:creationId xmlns:a16="http://schemas.microsoft.com/office/drawing/2014/main" id="{F7FC3BF8-721F-E77E-A9F7-55D9A672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483" y="6054931"/>
            <a:ext cx="118800" cy="11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xmlns:a="http://schemas.openxmlformats.org/drawingml/2006/main" rot="0" spcFirstLastPara="0" vert="horz" wrap="none" lIns="36000" tIns="36000" rIns="36000" bIns="3600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sz="9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13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64481F1A-8330-37B4-4A9F-F19A2C81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368" y="5824156"/>
            <a:ext cx="348988" cy="2278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72000" tIns="36000" rIns="72000" bIns="36000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</a:pP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4/30</a:t>
            </a:r>
          </a:p>
        </p:txBody>
      </p:sp>
      <p:sp>
        <p:nvSpPr>
          <p:cNvPr id="14" name="텍스트 개체 틀 17">
            <a:extLst xmlns:a="http://schemas.openxmlformats.org/drawingml/2006/main">
              <a:ext uri="{FF2B5EF4-FFF2-40B4-BE49-F238E27FC236}">
                <a16:creationId xmlns:a16="http://schemas.microsoft.com/office/drawing/2014/main" id="{D03E1ECE-EC3F-2D32-B550-D08CB29D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563" y="6178393"/>
            <a:ext cx="1728672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91440" tIns="45720" rIns="91440" bIns="45720" anchor="ctr">
            <a:noAutofit/>
          </a:bodyPr>
          <a:lstStyle xmlns:a="http://schemas.openxmlformats.org/drawingml/2006/main">
            <a:lvl1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/>
              <a:buNone/>
              <a:defRPr sz="1100" b="1" kern="1200">
                <a:solidFill>
                  <a:prstClr val="black"/>
                </a:solidFill>
                <a:latin typeface="+mn-lt"/>
                <a:ea typeface="+mn-lt"/>
                <a:cs typeface="+mn-lt"/>
              </a:defRPr>
            </a:lvl1pPr>
            <a:lvl2pPr marL="360363" indent="-184150" algn="l" defTabSz="91440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‑"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34988" indent="-174625" algn="l" defTabSz="91440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※"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/>
              <a:buNone/>
            </a:pPr>
            <a:r>
              <a:rPr sz="1000" b="0">
                <a:latin typeface="Corbel"/>
                <a:ea typeface="Corbel"/>
                <a:cs typeface="Corbel"/>
              </a:rPr>
              <a:t>XX</a:t>
            </a:r>
            <a:endParaRPr sz="10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15" name="Oval 36">
            <a:extLst xmlns:a="http://schemas.openxmlformats.org/drawingml/2006/main">
              <a:ext uri="{FF2B5EF4-FFF2-40B4-BE49-F238E27FC236}">
                <a16:creationId xmlns:a16="http://schemas.microsoft.com/office/drawing/2014/main" id="{AE019189-7CA5-4032-5770-58BDEC9E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463" y="6062150"/>
            <a:ext cx="118800" cy="11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xmlns:a="http://schemas.openxmlformats.org/drawingml/2006/main" rot="0" spcFirstLastPara="0" vert="horz" wrap="none" lIns="36000" tIns="36000" rIns="36000" bIns="3600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sz="9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16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20CB3D57-AD14-2BBC-F873-989FE811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609" y="5824156"/>
            <a:ext cx="493258" cy="2266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72000" tIns="36000" rIns="72000" bIns="36000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</a:pP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’26.5</a:t>
            </a: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월</a:t>
            </a:r>
            <a:endParaRPr sz="9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18" name="Oval 36">
            <a:extLst xmlns:a="http://schemas.openxmlformats.org/drawingml/2006/main">
              <a:ext uri="{FF2B5EF4-FFF2-40B4-BE49-F238E27FC236}">
                <a16:creationId xmlns:a16="http://schemas.microsoft.com/office/drawing/2014/main" id="{FC94403A-C775-2988-E4B2-38EFCE54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665" y="6062150"/>
            <a:ext cx="118800" cy="11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xmlns:a="http://schemas.openxmlformats.org/drawingml/2006/main" rot="0" spcFirstLastPara="0" vert="horz" wrap="none" lIns="36000" tIns="36000" rIns="36000" bIns="3600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sz="9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1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7329CBF3-88B7-B4B5-25CE-8698BDBB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1405" y="5810622"/>
            <a:ext cx="547760" cy="2266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72000" tIns="36000" rIns="72000" bIns="36000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</a:pP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’26.10</a:t>
            </a: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월</a:t>
            </a:r>
            <a:endParaRPr sz="9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21" name="Oval 36">
            <a:extLst xmlns:a="http://schemas.openxmlformats.org/drawingml/2006/main">
              <a:ext uri="{FF2B5EF4-FFF2-40B4-BE49-F238E27FC236}">
                <a16:creationId xmlns:a16="http://schemas.microsoft.com/office/drawing/2014/main" id="{0ACD262F-975B-FD67-D75D-18A8DD7B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5884" y="6039706"/>
            <a:ext cx="118800" cy="11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xmlns:a="http://schemas.openxmlformats.org/drawingml/2006/main" rot="0" spcFirstLastPara="0" vert="horz" wrap="none" lIns="36000" tIns="36000" rIns="36000" bIns="3600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sz="9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23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B8C1B0CE-6FD9-B3FD-3953-C80E75DE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6561" y="5807412"/>
            <a:ext cx="448373" cy="2278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72000" tIns="36000" rIns="72000" bIns="36000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</a:pP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’27.Q3</a:t>
            </a:r>
          </a:p>
        </p:txBody>
      </p:sp>
      <p:sp>
        <p:nvSpPr>
          <p:cNvPr id="25" name="Oval 36">
            <a:extLst xmlns:a="http://schemas.openxmlformats.org/drawingml/2006/main">
              <a:ext uri="{FF2B5EF4-FFF2-40B4-BE49-F238E27FC236}">
                <a16:creationId xmlns:a16="http://schemas.microsoft.com/office/drawing/2014/main" id="{E7281D5A-7A4B-C311-C518-10DA692A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1346" y="6045406"/>
            <a:ext cx="118800" cy="11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xmlns:a="http://schemas.openxmlformats.org/drawingml/2006/main" rot="0" spcFirstLastPara="0" vert="horz" wrap="none" lIns="36000" tIns="36000" rIns="36000" bIns="3600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sz="9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4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31F7EAB7-F458-F247-C04E-69C0B50C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623" y="5814353"/>
            <a:ext cx="498067" cy="2266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72000" tIns="36000" rIns="72000" bIns="36000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</a:pP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’26.6</a:t>
            </a:r>
            <a:r>
              <a:rPr sz="9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월</a:t>
            </a:r>
            <a:endParaRPr sz="9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26" name="Oval 36">
            <a:extLst xmlns:a="http://schemas.openxmlformats.org/drawingml/2006/main">
              <a:ext uri="{FF2B5EF4-FFF2-40B4-BE49-F238E27FC236}">
                <a16:creationId xmlns:a16="http://schemas.microsoft.com/office/drawing/2014/main" id="{8BA0757C-5088-A823-7033-EDE0721C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7799" y="6065105"/>
            <a:ext cx="118800" cy="11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xmlns:a="http://schemas.openxmlformats.org/drawingml/2006/main" rot="0" spcFirstLastPara="0" vert="horz" wrap="none" lIns="36000" tIns="36000" rIns="36000" bIns="36000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</a:pPr>
            <a:endParaRPr sz="9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1FB405B2-6B34-8DCB-C0BA-2FF329D7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4684" y="76201"/>
            <a:ext cx="2488265" cy="377284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영문 </a:t>
            </a:r>
            <a:r>
              <a:rPr sz="1100"/>
              <a:t>Corbel</a:t>
            </a:r>
            <a:br/>
            <a:r>
              <a:rPr sz="1100"/>
              <a:t>한글 </a:t>
            </a:r>
            <a:r>
              <a:rPr sz="1100"/>
              <a:t>나눔스퀘어</a:t>
            </a:r>
            <a:r>
              <a:rPr sz="1100"/>
              <a:t> </a:t>
            </a:r>
            <a:r>
              <a:rPr sz="1100"/>
              <a:t>(</a:t>
            </a:r>
            <a:r>
              <a:rPr sz="1100"/>
              <a:t>제목은 </a:t>
            </a:r>
            <a:r>
              <a:rPr sz="1100"/>
              <a:t>ExtraBold</a:t>
            </a:r>
            <a:r>
              <a:rPr sz="1100"/>
              <a:t>)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6589928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B10FF554-4351-B6AB-376A-35C4303A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80" y="944562"/>
            <a:ext cx="1391282" cy="56530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89535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</a:pPr>
            <a:r>
              <a:rPr sz="1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d</a:t>
            </a:r>
          </a:p>
        </p:txBody>
      </p:sp>
      <p:sp>
        <p:nvSpPr>
          <p:cNvPr id="6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2C0E2E5F-5851-8A41-2CC5-F18557058D3E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658938" y="1097367"/>
            <a:ext cx="7965134" cy="550028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tx1"/>
                </a:solidFill>
              </a:rPr>
              <a:t>TTT</a:t>
            </a:r>
          </a:p>
          <a:p xmlns:a="http://schemas.openxmlformats.org/drawingml/2006/main">
            <a:pPr lvl="1">
              <a:buNone/>
            </a:pPr>
            <a:r>
              <a:t>TT</a:t>
            </a:r>
          </a:p>
          <a:p xmlns:a="http://schemas.openxmlformats.org/drawingml/2006/main">
            <a:pPr lvl="2" indent="-179070">
              <a:spcBef>
                <a:spcPts val="1000"/>
              </a:spcBef>
              <a:buNone/>
            </a:pPr>
            <a:r>
              <a:rPr b="1">
                <a:latin typeface="Corbel"/>
                <a:ea typeface="Corbel"/>
                <a:cs typeface="Corbel"/>
              </a:rPr>
              <a:t>협의  </a:t>
            </a:r>
          </a:p>
          <a:p xmlns:a="http://schemas.openxmlformats.org/drawingml/2006/main">
            <a:pPr lvl="3">
              <a:spcBef>
                <a:spcPts val="1000"/>
              </a:spcBef>
              <a:buNone/>
            </a:pPr>
            <a:r>
              <a:t>소극적 입장 유지</a:t>
            </a:r>
            <a:endParaRPr/>
          </a:p>
          <a:p xmlns:a="http://schemas.openxmlformats.org/drawingml/2006/main">
            <a:pPr lvl="4">
              <a:buNone/>
            </a:pPr>
            <a:r>
              <a:t>수용</a:t>
            </a:r>
          </a:p>
          <a:p xmlns:a="http://schemas.openxmlformats.org/drawingml/2006/main">
            <a:pPr lvl="4">
              <a:buNone/>
            </a:pPr>
            <a:r>
              <a:t>신중한 입장 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E02D2E7-813E-6E99-58D0-8D2BEB24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51" y="170119"/>
            <a:ext cx="32060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r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xx</a:t>
            </a:r>
            <a:endParaRPr sz="24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BC7791A-BA6A-2957-973C-EA800BD9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41" y="6647300"/>
            <a:ext cx="9350335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1)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Sodium Fast Reactor   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2)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사업자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-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규제기관 間 협업 플랫폼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,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기술 이해도 제고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/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해외규제사례 분석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/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안전현안 검토 및 해소방안 논의 등 수행 예정         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3)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원자력통제기술원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,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핵물질 통제 및 원전 방호 관련 규제업무 수행 </a:t>
            </a:r>
            <a:endParaRPr sz="8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342217320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44BAA677-C132-8B73-027B-6C9DB766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80" y="944562"/>
            <a:ext cx="1391282" cy="56530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89535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</a:pPr>
            <a:r>
              <a:rPr sz="1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d</a:t>
            </a:r>
          </a:p>
        </p:txBody>
      </p:sp>
      <p:sp>
        <p:nvSpPr>
          <p:cNvPr id="6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A6769721-62EF-F654-B5D9-FDF5037B0448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658938" y="1097367"/>
            <a:ext cx="7965134" cy="550028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50000"/>
                  </a:schemeClr>
                </a:solidFill>
              </a:rPr>
              <a:t>TTT</a:t>
            </a:r>
          </a:p>
          <a:p xmlns:a="http://schemas.openxmlformats.org/drawingml/2006/main">
            <a:pPr lvl="1">
              <a:buFont typeface="+mj-lt"/>
              <a:buAutoNum type="arabicParenR" startAt="2"/>
            </a:pPr>
            <a:r>
              <a:t>ㅌㅌ</a:t>
            </a:r>
            <a:endParaRPr/>
          </a:p>
          <a:p xmlns:a="http://schemas.openxmlformats.org/drawingml/2006/main">
            <a:pPr lvl="2" indent="-179070">
              <a:spcBef>
                <a:spcPts val="1000"/>
              </a:spcBef>
              <a:buNone/>
            </a:pPr>
            <a:r>
              <a:rPr b="1">
                <a:latin typeface="Corbel"/>
                <a:ea typeface="Corbel"/>
                <a:cs typeface="Corbel"/>
              </a:rPr>
              <a:t>ㅌㅌ</a:t>
            </a:r>
            <a:endParaRPr b="1">
              <a:latin typeface="Corbel"/>
              <a:ea typeface="Corbel"/>
              <a:cs typeface="Corbel"/>
            </a:endParaRPr>
          </a:p>
          <a:p xmlns:a="http://schemas.openxmlformats.org/drawingml/2006/main">
            <a:pPr marL="535305" lvl="2" indent="0">
              <a:spcBef>
                <a:spcPts val="1000"/>
              </a:spcBef>
              <a:buNone/>
            </a:pPr>
            <a:br/>
            <a:br/>
            <a:br/>
            <a:endParaRPr b="1">
              <a:highlight>
                <a:srgbClr val="DCE6F2"/>
              </a:highlight>
              <a:latin typeface="Corbel"/>
              <a:ea typeface="Corbel"/>
              <a:cs typeface="Corbel"/>
            </a:endParaRPr>
          </a:p>
          <a:p xmlns:a="http://schemas.openxmlformats.org/drawingml/2006/main">
            <a:pPr lvl="2" indent="-179070">
              <a:spcBef>
                <a:spcPts val="1500"/>
              </a:spcBef>
              <a:buNone/>
            </a:pPr>
            <a:endParaRPr b="1">
              <a:solidFill>
                <a:schemeClr val="tx1">
                  <a:lumMod val="50000"/>
                  <a:lumOff val="50000"/>
                </a:schemeClr>
              </a:solidFill>
              <a:highlight>
                <a:srgbClr val="DCE6F2"/>
              </a:highlight>
              <a:latin typeface="Corbel"/>
              <a:ea typeface="Corbel"/>
              <a:cs typeface="Corbel"/>
            </a:endParaRPr>
          </a:p>
          <a:p xmlns:a="http://schemas.openxmlformats.org/drawingml/2006/main">
            <a:pPr marL="535305" lvl="2" indent="0">
              <a:spcBef>
                <a:spcPts val="1500"/>
              </a:spcBef>
              <a:buNone/>
            </a:pPr>
            <a:br/>
            <a:endParaRPr b="1">
              <a:solidFill>
                <a:schemeClr val="tx1">
                  <a:lumMod val="50000"/>
                  <a:lumOff val="50000"/>
                </a:schemeClr>
              </a:solidFill>
              <a:highlight>
                <a:srgbClr val="DCE6F2"/>
              </a:highlight>
              <a:latin typeface="Corbel"/>
              <a:ea typeface="Corbel"/>
              <a:cs typeface="Corbel"/>
            </a:endParaRPr>
          </a:p>
          <a:p xmlns:a="http://schemas.openxmlformats.org/drawingml/2006/main">
            <a:pPr lvl="2" indent="-179070">
              <a:spcBef>
                <a:spcPts val="1500"/>
              </a:spcBef>
              <a:buNone/>
            </a:pPr>
            <a:r>
              <a:rPr b="1">
                <a:latin typeface="Corbel"/>
                <a:ea typeface="Corbel"/>
                <a:cs typeface="Corbel"/>
              </a:rPr>
              <a:t>ㅇㅇ</a:t>
            </a:r>
            <a:endParaRPr b="1" baseline="30000">
              <a:latin typeface="Corbel"/>
              <a:ea typeface="Corbel"/>
              <a:cs typeface="Corbel"/>
            </a:endParaRPr>
          </a:p>
          <a:p xmlns:a="http://schemas.openxmlformats.org/drawingml/2006/main">
            <a:pPr lvl="3">
              <a:spcBef>
                <a:spcPts val="1000"/>
              </a:spcBef>
              <a:buNone/>
            </a:pPr>
            <a:r>
              <a:t>ㅇ中 </a:t>
            </a:r>
            <a:endParaRPr/>
          </a:p>
          <a:p xmlns:a="http://schemas.openxmlformats.org/drawingml/2006/main">
            <a:pPr lvl="4">
              <a:buNone/>
            </a:pPr>
            <a:r>
              <a:t>ㅇ선정</a:t>
            </a:r>
            <a:r>
              <a:t> 中</a:t>
            </a:r>
            <a:endParaRPr/>
          </a:p>
          <a:p xmlns:a="http://schemas.openxmlformats.org/drawingml/2006/main">
            <a:pPr lvl="4">
              <a:buNone/>
            </a:pPr>
            <a:endParaRPr/>
          </a:p>
          <a:p xmlns:a="http://schemas.openxmlformats.org/drawingml/2006/main">
            <a:pPr lvl="4">
              <a:buNone/>
            </a:pPr>
            <a:endParaRPr sz="700"/>
          </a:p>
          <a:p xmlns:a="http://schemas.openxmlformats.org/drawingml/2006/main">
            <a:pPr lvl="4">
              <a:buNone/>
            </a:pPr>
            <a:endParaRPr/>
          </a:p>
          <a:p xmlns:a="http://schemas.openxmlformats.org/drawingml/2006/main">
            <a:pPr lvl="4">
              <a:buNone/>
            </a:pPr>
            <a:endParaRPr sz="600"/>
          </a:p>
          <a:p xmlns:a="http://schemas.openxmlformats.org/drawingml/2006/main">
            <a:pPr lvl="4">
              <a:buNone/>
            </a:pPr>
            <a:endParaRPr b="1">
              <a:solidFill>
                <a:schemeClr val="tx1">
                  <a:lumMod val="50000"/>
                  <a:lumOff val="50000"/>
                </a:schemeClr>
              </a:solidFill>
              <a:highlight>
                <a:srgbClr val="DCE6F2"/>
              </a:highlight>
            </a:endParaRPr>
          </a:p>
          <a:p xmlns:a="http://schemas.openxmlformats.org/drawingml/2006/main">
            <a:pPr lvl="2" indent="-179070">
              <a:spcBef>
                <a:spcPts val="2500"/>
              </a:spcBef>
              <a:buNone/>
            </a:pPr>
            <a:r>
              <a:rPr b="1">
                <a:latin typeface="Corbel"/>
                <a:ea typeface="Corbel"/>
                <a:cs typeface="Corbel"/>
              </a:rPr>
              <a:t>협력</a:t>
            </a:r>
          </a:p>
          <a:p xmlns:a="http://schemas.openxmlformats.org/drawingml/2006/main">
            <a:pPr lvl="3">
              <a:buNone/>
            </a:pPr>
            <a:r>
              <a:t>ㅇㅇ</a:t>
            </a:r>
            <a:endParaRPr/>
          </a:p>
          <a:p xmlns:a="http://schemas.openxmlformats.org/drawingml/2006/main">
            <a:pPr lvl="4">
              <a:buNone/>
            </a:pPr>
            <a:r>
              <a:t>ㅇ</a:t>
            </a:r>
            <a:r>
              <a:t> 中</a:t>
            </a:r>
            <a:endParaRPr/>
          </a:p>
          <a:p xmlns:a="http://schemas.openxmlformats.org/drawingml/2006/main">
            <a:pPr marL="714375" lvl="3" indent="0">
              <a:buNone/>
            </a:pPr>
            <a:r>
              <a:t> </a:t>
            </a:r>
            <a:r>
              <a:rPr b="1" u="sng"/>
              <a:t>MOU </a:t>
            </a:r>
            <a:r>
              <a:rPr b="1" u="sng"/>
              <a:t>추진</a:t>
            </a:r>
            <a:endParaRPr b="1" u="sng"/>
          </a:p>
          <a:p xmlns:a="http://schemas.openxmlformats.org/drawingml/2006/main">
            <a:pPr lvl="3">
              <a:spcBef>
                <a:spcPts val="1000"/>
              </a:spcBef>
              <a:buNone/>
            </a:pPr>
            <a:endParaRPr baseline="30000"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EA644DF-F8FE-5839-6496-D7CF0BF2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51" y="170119"/>
            <a:ext cx="56105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r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ㅇㅇ</a:t>
            </a:r>
            <a:endParaRPr sz="2400" b="1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23839E8-49E3-0FB7-5DA7-4AE26A78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41" y="6647300"/>
            <a:ext cx="9350335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1)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Sodium Fast Reactor   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2)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사업자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-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규제기관 間 협업 플랫폼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,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기술 이해도 제고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/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해외규제사례 분석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/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안전현안 검토 및 해소방안 논의 등 수행 예정         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3)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원자력통제기술원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, </a:t>
            </a:r>
            <a:r>
              <a:rPr sz="800" b="0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핵물질 통제 및 원전 방호 관련 규제업무 수행 </a:t>
            </a:r>
            <a:endParaRPr sz="800" b="0" i="0" u="none" kern="1200" cap="none" spc="0" baseline="0">
              <a:ln>
                <a:noFill/>
              </a:ln>
              <a:solidFill>
                <a:prstClr val="black"/>
              </a:solidFill>
              <a:latin typeface="Corbel"/>
              <a:ea typeface="Corbel"/>
              <a:cs typeface="Corbel"/>
            </a:endParaRPr>
          </a:p>
        </p:txBody>
      </p:sp>
      <p:graphicFrame>
        <p:nvGraphicFramePr>
          <p:cNvPr id="19" name="표 3"/>
          <p:cNvGraphicFramePr/>
          <p:nvPr/>
        </p:nvGraphicFramePr>
        <p:xfrm>
          <a:off xmlns:a="http://schemas.openxmlformats.org/drawingml/2006/main" x="2649537" y="4733337"/>
          <a:ext xmlns:a="http://schemas.openxmlformats.org/drawingml/2006/main" cx="6875461" cy="7612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55638"/>
                <a:gridCol w="2638425"/>
                <a:gridCol w="2057400"/>
                <a:gridCol w="733425"/>
                <a:gridCol w="790573"/>
              </a:tblGrid>
              <a:tr h="125245"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구분</a:t>
                      </a:r>
                    </a:p>
                  </a:txBody>
                  <a:tcPr marL="0" marR="0" marT="18000" marB="18000" anchor="ctr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개요</a:t>
                      </a:r>
                    </a:p>
                  </a:txBody>
                  <a:tcPr marL="0" marR="0" marT="18000" marB="18000" anchor="ctr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지자체 지원 및 유치 적극성</a:t>
                      </a:r>
                    </a:p>
                  </a:txBody>
                  <a:tcPr marL="0" marR="0" marT="18000" marB="18000" anchor="ctr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송전</a:t>
                      </a: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Infra</a:t>
                      </a:r>
                      <a:endParaRPr sz="1050" b="1" kern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0" marR="0" marT="18000" marB="18000" anchor="ctr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주민수용성</a:t>
                      </a:r>
                    </a:p>
                  </a:txBody>
                  <a:tcPr marL="0" marR="0" marT="18000" marB="18000" anchor="ctr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</a:tr>
              <a:tr h="121132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ㅇㅇ</a:t>
                      </a:r>
                      <a:endParaRPr sz="1000" b="1" kern="0" baseline="3000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ㅇㅇ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높음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21132"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 b="1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Corbel"/>
                          <a:ea typeface="Corbel"/>
                          <a:cs typeface="Corbel"/>
                        </a:rPr>
                        <a:t>ㅇㅇ</a:t>
                      </a:r>
                      <a:endParaRPr sz="1000" b="1" i="0" u="none" kern="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보유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높음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21132"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 b="1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Corbel"/>
                          <a:ea typeface="Corbel"/>
                          <a:cs typeface="Corbel"/>
                        </a:rPr>
                        <a:t>ㅇㅇ</a:t>
                      </a:r>
                      <a:endParaRPr sz="1000" b="1" i="0" u="none" kern="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보유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SMR </a:t>
                      </a:r>
                      <a:r>
                        <a:rPr sz="1000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한정 </a:t>
                      </a:r>
                      <a:endParaRPr sz="1000" kern="1200" spc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텍스트 개체 틀 17">
            <a:extLst xmlns:a="http://schemas.openxmlformats.org/drawingml/2006/main">
              <a:ext uri="{FF2B5EF4-FFF2-40B4-BE49-F238E27FC236}">
                <a16:creationId xmlns:a16="http://schemas.microsoft.com/office/drawing/2014/main" id="{288F525E-67ED-8485-57C3-CD3EE06C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539" y="4409182"/>
            <a:ext cx="6875462" cy="2833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0" rIns="91440" bIns="0" anchor="ctr">
            <a:noAutofit/>
          </a:bodyPr>
          <a:lstStyle xmlns:a="http://schemas.openxmlformats.org/drawingml/2006/main">
            <a:lvl1pPr marL="176213" indent="-176213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/>
              <a:buChar char="§"/>
              <a:defRPr sz="1100" b="1"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360363" indent="-184150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‑"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34988" indent="-174625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※"/>
              <a:defRPr sz="9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/>
              <a:buNone/>
            </a:pP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【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표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】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</a:p>
        </p:txBody>
      </p:sp>
      <p:graphicFrame>
        <p:nvGraphicFramePr>
          <p:cNvPr id="21" name="표 6"/>
          <p:cNvGraphicFramePr/>
          <p:nvPr/>
        </p:nvGraphicFramePr>
        <p:xfrm>
          <a:off xmlns:a="http://schemas.openxmlformats.org/drawingml/2006/main" x="2649536" y="2297072"/>
          <a:ext xmlns:a="http://schemas.openxmlformats.org/drawingml/2006/main" cx="6875461" cy="113192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45373"/>
                <a:gridCol w="2096655"/>
                <a:gridCol w="3133433"/>
              </a:tblGrid>
              <a:tr h="213706"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구분</a:t>
                      </a:r>
                    </a:p>
                  </a:txBody>
                  <a:tcPr marL="0" marR="0" marT="18000" marB="18000" anchor="ctr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개요</a:t>
                      </a:r>
                    </a:p>
                  </a:txBody>
                  <a:tcPr marL="0" marR="0" marT="18000" marB="18000" anchor="ctr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5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추진방안</a:t>
                      </a:r>
                    </a:p>
                  </a:txBody>
                  <a:tcPr marL="0" marR="0" marT="18000" marB="18000" anchor="ctr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</a:tr>
              <a:tr h="306074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endParaRPr sz="1000" b="1" kern="0" baseline="3000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06074">
                <a:tc>
                  <a:txBody>
                    <a:bodyPr/>
                    <a:lstStyle/>
                    <a:p>
                      <a:pPr marL="17280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  <a:latin typeface="Corbel"/>
                          <a:ea typeface="Corbel"/>
                          <a:cs typeface="Corbel"/>
                        </a:rPr>
                        <a:t>ㅇㅇ</a:t>
                      </a:r>
                      <a:endParaRPr sz="1000" b="1" kern="0" baseline="3000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06074">
                <a:tc>
                  <a:txBody>
                    <a:bodyPr/>
                    <a:lstStyle/>
                    <a:p>
                      <a:pPr marL="0" indent="-172800" algn="l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endParaRPr sz="1000" b="1" kern="0" baseline="0">
                        <a:solidFill>
                          <a:schemeClr val="tx1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noFill/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Aptos"/>
                          <a:ea typeface="Aptos"/>
                          <a:cs typeface="Aptos"/>
                        </a:rPr>
                        <a:t>ㅌㅌ</a:t>
                      </a:r>
                      <a:endParaRPr sz="1000" b="0" i="0" u="none" kern="1200" cap="none" spc="0" baseline="30000">
                        <a:ln>
                          <a:noFill/>
                        </a:ln>
                        <a:solidFill>
                          <a:prstClr val="black"/>
                        </a:solidFill>
                        <a:latin typeface="Corbel"/>
                        <a:ea typeface="Corbel"/>
                        <a:cs typeface="Corbel"/>
                      </a:endParaRPr>
                    </a:p>
                  </a:txBody>
                  <a:tcPr marL="72000" marR="72000" marT="18000" marB="18000">
                    <a:lnL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L>
                    <a:lnR w="9525" cmpd="sng">
                      <a:noFill/>
                      <a:prstDash val="solid"/>
                    </a:lnR>
                    <a:lnT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텍스트 개체 틀 17">
            <a:extLst xmlns:a="http://schemas.openxmlformats.org/drawingml/2006/main">
              <a:ext uri="{FF2B5EF4-FFF2-40B4-BE49-F238E27FC236}">
                <a16:creationId xmlns:a16="http://schemas.microsoft.com/office/drawing/2014/main" id="{036726C2-0E9C-02F8-8FD5-622C5B31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539" y="1963685"/>
            <a:ext cx="6875462" cy="2833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0" rIns="91440" bIns="0" anchor="ctr">
            <a:noAutofit/>
          </a:bodyPr>
          <a:lstStyle xmlns:a="http://schemas.openxmlformats.org/drawingml/2006/main">
            <a:lvl1pPr marL="176213" indent="-176213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/>
              <a:buChar char="§"/>
              <a:defRPr sz="1100" b="1"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360363" indent="-184150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‑"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34988" indent="-174625" algn="l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/>
              <a:buChar char="※"/>
              <a:defRPr sz="9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/>
              <a:buNone/>
            </a:pP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【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표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】</a:t>
            </a:r>
            <a:r>
              <a:rPr b="1" i="0" u="none" cap="none">
                <a:ln>
                  <a:noFill/>
                </a:ln>
                <a:solidFill>
                  <a:prstClr val="black"/>
                </a:solidFill>
                <a:latin typeface="Corbel"/>
                <a:ea typeface="Corbel"/>
                <a:cs typeface="Corbel"/>
              </a:rPr>
              <a:t> 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3E51F62C-ACCB-5415-8C2B-911AC020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0220" y="1063668"/>
            <a:ext cx="2488265" cy="377284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/>
              <a:t>동일 주제 </a:t>
            </a:r>
            <a:r>
              <a:rPr sz="1100"/>
              <a:t>(TTT)</a:t>
            </a:r>
            <a:r>
              <a:rPr sz="1100"/>
              <a:t>에 하위 내용 추가 시 제목 색깔 변경 필요</a:t>
            </a:r>
          </a:p>
        </p:txBody>
      </p:sp>
    </p:spTree>
    <p:extLst>
      <p:ext uri="{BB962C8B-B14F-4D97-AF65-F5344CB8AC3E}">
        <p14:creationId xmlns:p14="http://schemas.microsoft.com/office/powerpoint/2010/main" val="1285330576"/>
      </p:ext>
    </p:extLst>
  </p:cSld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2026-08-08T14:51:17.5060000Z</dcterms:created>
  <dcterms:modified xsi:type="dcterms:W3CDTF">2026-08-08T14:51:17.5060000Z</dcterms:modified>
</coreProperties>
</file>