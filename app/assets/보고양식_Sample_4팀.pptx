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305" r:id="rId2"/>
    <p:sldId id="288" r:id="rId3"/>
    <p:sldId id="306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350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CBB0D-E5EF-4FAE-AC64-57AE6C72DF5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399B1-9546-4707-90D6-EDF3369BA7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63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015F4-AD4E-9680-671D-1FAEC8CE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7B3377-90FE-E4BA-920A-6497D709D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FE2E67-DA55-3165-4F6D-99CAF88EC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A590E-B10D-7885-8C04-5AAE4F1DC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BE36-1693-40D9-A873-0F4490CDBB4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884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BBB9-28B0-3E81-344F-86460945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AFBFB-9608-17D6-679F-133AB84E4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E07CFB-8377-A5E6-9B42-34DC50376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8826B-9F34-4623-5604-070AE1C2A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BE36-1693-40D9-A873-0F4490CDBB4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814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0AA5-1671-EE94-2D6A-05CC27EC6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E8058-5E05-9651-820E-6709431AA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1B00DA-FA4C-277B-FEDF-49416FBE0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F31DDA-97C3-07A4-ECBB-4CC9D211E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BE36-1693-40D9-A873-0F4490CDBB4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27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5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40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11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9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62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62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1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71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271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6"/>
          <p:cNvSpPr txBox="1">
            <a:spLocks/>
          </p:cNvSpPr>
          <p:nvPr userDrawn="1"/>
        </p:nvSpPr>
        <p:spPr>
          <a:xfrm>
            <a:off x="7563290" y="6623050"/>
            <a:ext cx="2311400" cy="228600"/>
          </a:xfrm>
          <a:prstGeom prst="rect">
            <a:avLst/>
          </a:prstGeom>
        </p:spPr>
        <p:txBody>
          <a:bodyPr rIns="36000"/>
          <a:lstStyle>
            <a:lvl1pPr>
              <a:defRPr sz="1100" b="1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 </a:t>
            </a:r>
            <a:fld id="{7C14344A-CACA-478F-85C5-D0BB66BC0415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7447288"/>
              </p:ext>
            </p:extLst>
          </p:nvPr>
        </p:nvGraphicFramePr>
        <p:xfrm>
          <a:off x="273051" y="631784"/>
          <a:ext cx="9372502" cy="596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1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20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400" b="1" u="none" kern="1200" baseline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Tahoma" panose="020B0604030504040204" pitchFamily="34" charset="0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400" b="1" u="none" kern="1200" baseline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Tahoma" panose="020B0604030504040204" pitchFamily="34" charset="0"/>
                        </a:rPr>
                        <a:t>주요 내용</a:t>
                      </a:r>
                      <a:endParaRPr kumimoji="1" lang="en-US" altLang="ko-KR" sz="1400" b="1" u="none" kern="1200" baseline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656">
                <a:tc>
                  <a:txBody>
                    <a:bodyPr/>
                    <a:lstStyle/>
                    <a:p>
                      <a:pPr algn="ctr" defTabSz="895350" latinLnBrk="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</a:pPr>
                      <a:endParaRPr lang="en-US" altLang="ko-KR" sz="1400" b="1" u="none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</a:txBody>
                  <a:tcPr marR="0" marT="252000" marB="468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1658938" y="1196975"/>
            <a:ext cx="7986615" cy="5184775"/>
          </a:xfrm>
        </p:spPr>
        <p:txBody>
          <a:bodyPr>
            <a:noAutofit/>
          </a:bodyPr>
          <a:lstStyle>
            <a:lvl1pPr marL="265113" indent="-265113" latinLnBrk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lang="en-US" altLang="ko-KR" sz="1400" b="1" kern="1200" baseline="0" dirty="0" smtClean="0">
                <a:solidFill>
                  <a:prstClr val="black"/>
                </a:solidFill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defRPr>
            </a:lvl1pPr>
            <a:lvl2pPr marL="538163" indent="-266700" latinLnBrk="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 panose="020B0503020204020204" pitchFamily="34" charset="0"/>
                <a:ea typeface="나눔스퀘어" panose="020B0600000101010101" pitchFamily="50" charset="-127"/>
              </a:defRPr>
            </a:lvl2pPr>
            <a:lvl3pPr marL="714375" indent="-179388" latinLnBrk="0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"/>
              <a:defRPr lang="en-US" altLang="ko-KR" sz="1200" b="0" kern="1200" baseline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  <a:sym typeface="Wingdings" panose="05000000000000000000" pitchFamily="2" charset="2"/>
              </a:defRPr>
            </a:lvl3pPr>
            <a:lvl4pPr marL="892175" indent="-177800" latinLnBrk="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–"/>
              <a:defRPr sz="1100" b="0" baseline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defRPr>
            </a:lvl4pPr>
            <a:lvl5pPr marL="1081088" indent="-188913" latinLnBrk="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baseline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defRPr>
            </a:lvl5pPr>
          </a:lstStyle>
          <a:p>
            <a:pPr lvl="0"/>
            <a:r>
              <a:rPr lang="ko-KR" altLang="en-US"/>
              <a:t>대 제목</a:t>
            </a:r>
            <a:endParaRPr lang="en-US" altLang="ko-KR"/>
          </a:p>
          <a:p>
            <a:pPr lvl="1"/>
            <a:r>
              <a:rPr lang="ko-KR" altLang="en-US"/>
              <a:t>두번째</a:t>
            </a:r>
            <a:endParaRPr lang="en-US" altLang="ko-KR"/>
          </a:p>
          <a:p>
            <a:pPr lvl="2"/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Level 1 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* Level 1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참고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시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 Level 2 </a:t>
            </a:r>
            <a:r>
              <a:rPr kumimoji="0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소결시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endParaRPr lang="en-US" altLang="ko-KR" sz="1200" b="1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lvl="3"/>
            <a:r>
              <a:rPr lang="en-US" altLang="ko-KR"/>
              <a:t>Level 2</a:t>
            </a:r>
            <a:br>
              <a:rPr lang="en-US" altLang="ko-KR"/>
            </a:br>
            <a:r>
              <a:rPr lang="en-US" altLang="ko-KR"/>
              <a:t>* Level 2 </a:t>
            </a:r>
            <a:r>
              <a:rPr lang="ko-KR" altLang="en-US" err="1"/>
              <a:t>참고시</a:t>
            </a:r>
            <a:r>
              <a:rPr lang="en-US" altLang="ko-KR"/>
              <a:t> </a:t>
            </a:r>
            <a:br>
              <a:rPr lang="en-US" altLang="ko-KR"/>
            </a:br>
            <a:r>
              <a:rPr lang="en-US" altLang="ko-KR"/>
              <a:t> Level 2 </a:t>
            </a:r>
            <a:r>
              <a:rPr lang="ko-KR" altLang="en-US" err="1"/>
              <a:t>소결시</a:t>
            </a:r>
            <a:r>
              <a:rPr lang="en-US" altLang="ko-KR"/>
              <a:t> </a:t>
            </a:r>
          </a:p>
          <a:p>
            <a:pPr lvl="4"/>
            <a:r>
              <a:rPr lang="en-US" altLang="ko-KR"/>
              <a:t>Level 3</a:t>
            </a:r>
            <a:br>
              <a:rPr lang="en-US" altLang="ko-KR"/>
            </a:br>
            <a:r>
              <a:rPr lang="en-US" altLang="ko-KR"/>
              <a:t>* Level 3 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참고 </a:t>
            </a:r>
            <a:br>
              <a:rPr lang="en-US" altLang="ko-KR"/>
            </a:br>
            <a:r>
              <a:rPr lang="en-US" altLang="ko-KR"/>
              <a:t> level 3 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소결</a:t>
            </a:r>
            <a:endParaRPr lang="en-US" altLang="ko-KR"/>
          </a:p>
          <a:p>
            <a:pPr lvl="4"/>
            <a:endParaRPr lang="ko-KR" altLang="en-US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10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69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2D66-FFB1-83CF-F984-0F2FBA3F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7"/>
            <a:ext cx="7965134" cy="5500282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AI DC Solution </a:t>
            </a:r>
            <a:r>
              <a:rPr lang="ko-KR" altLang="en-US" dirty="0">
                <a:solidFill>
                  <a:schemeClr val="tx1"/>
                </a:solidFill>
              </a:rPr>
              <a:t>확보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/>
              <a:t>SK</a:t>
            </a:r>
          </a:p>
          <a:p>
            <a:pPr lvl="2" indent="-179070">
              <a:spcBef>
                <a:spcPts val="1000"/>
              </a:spcBef>
              <a:defRPr/>
            </a:pPr>
            <a:r>
              <a:rPr lang="en-US" altLang="ko-KR" b="1" dirty="0">
                <a:latin typeface="Corbel" panose="020B0503020204020204" pitchFamily="34" charset="0"/>
                <a:cs typeface="Tahoma"/>
              </a:rPr>
              <a:t>CEO </a:t>
            </a:r>
            <a:r>
              <a:rPr lang="ko-KR" altLang="en-US" b="1" dirty="0">
                <a:latin typeface="Corbel" panose="020B0503020204020204" pitchFamily="34" charset="0"/>
                <a:cs typeface="Tahoma"/>
              </a:rPr>
              <a:t>보고 </a:t>
            </a:r>
            <a:endParaRPr lang="en-US" altLang="ko-KR" b="1" baseline="30000" dirty="0">
              <a:latin typeface="Corbel" panose="020B0503020204020204" pitchFamily="34" charset="0"/>
              <a:cs typeface="Tahoma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altLang="ko-KR" dirty="0"/>
              <a:t>CEO </a:t>
            </a:r>
            <a:r>
              <a:rPr lang="ko-KR" altLang="en-US" dirty="0"/>
              <a:t>向 최종 보고 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baseline="30000" dirty="0"/>
          </a:p>
          <a:p>
            <a:pPr lvl="4">
              <a:spcBef>
                <a:spcPts val="1000"/>
              </a:spcBef>
              <a:defRPr/>
            </a:pPr>
            <a:r>
              <a:rPr lang="ko-KR" altLang="en-US" dirty="0"/>
              <a:t>실사 결과 보고 </a:t>
            </a:r>
            <a:endParaRPr lang="en-US" altLang="ko-KR" dirty="0"/>
          </a:p>
          <a:p>
            <a:pPr lvl="4">
              <a:spcBef>
                <a:spcPts val="1000"/>
              </a:spcBef>
              <a:defRPr/>
            </a:pPr>
            <a:r>
              <a:rPr lang="ko-KR" altLang="en-US" dirty="0" err="1"/>
              <a:t>멤버사</a:t>
            </a:r>
            <a:endParaRPr lang="en-US" altLang="ko-KR" dirty="0"/>
          </a:p>
          <a:p>
            <a:pPr marL="714375" lvl="3" indent="0">
              <a:spcBef>
                <a:spcPts val="800"/>
              </a:spcBef>
              <a:buNone/>
              <a:defRPr/>
            </a:pPr>
            <a:endParaRPr lang="en-US" altLang="ko-KR" baseline="30000" dirty="0"/>
          </a:p>
          <a:p>
            <a:pPr marL="714375" lvl="3" indent="0">
              <a:spcBef>
                <a:spcPts val="800"/>
              </a:spcBef>
              <a:buNone/>
              <a:defRPr/>
            </a:pPr>
            <a:br>
              <a:rPr lang="en-US" altLang="ko-KR" baseline="30000" dirty="0"/>
            </a:br>
            <a:endParaRPr lang="en-US" altLang="ko-KR" baseline="30000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r>
              <a:rPr lang="en-US" altLang="ko-KR" dirty="0"/>
              <a:t>Project </a:t>
            </a:r>
            <a:r>
              <a:rPr lang="ko-KR" altLang="en-US" dirty="0"/>
              <a:t>진행 일정</a:t>
            </a:r>
            <a:r>
              <a:rPr lang="en-US" altLang="ko-KR" dirty="0"/>
              <a:t>(</a:t>
            </a:r>
            <a:r>
              <a:rPr lang="ko-KR" altLang="en-US" dirty="0"/>
              <a:t>案</a:t>
            </a:r>
            <a:r>
              <a:rPr lang="en-US" altLang="ko-KR" dirty="0"/>
              <a:t>)</a:t>
            </a:r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marL="714375" lvl="3" indent="0">
              <a:spcBef>
                <a:spcPts val="1000"/>
              </a:spcBef>
              <a:buNone/>
              <a:defRPr/>
            </a:pP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/>
          <p:nvPr/>
        </p:nvSpPr>
        <p:spPr>
          <a:xfrm>
            <a:off x="272480" y="944562"/>
            <a:ext cx="1391282" cy="5653087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AI DC</a:t>
            </a:r>
          </a:p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 txBox="1"/>
          <p:nvPr/>
        </p:nvSpPr>
        <p:spPr>
          <a:xfrm>
            <a:off x="273051" y="170119"/>
            <a:ext cx="3364704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나눔스퀘어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 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ExtraBold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 (24)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9A85A1-9CBD-A823-F744-50FBC627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41155"/>
              </p:ext>
            </p:extLst>
          </p:nvPr>
        </p:nvGraphicFramePr>
        <p:xfrm>
          <a:off x="2649538" y="3244741"/>
          <a:ext cx="6875462" cy="2123640"/>
        </p:xfrm>
        <a:graphic>
          <a:graphicData uri="http://schemas.openxmlformats.org/drawingml/2006/table">
            <a:tbl>
              <a:tblPr/>
              <a:tblGrid>
                <a:gridCol w="909450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5966012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</a:tblGrid>
              <a:tr h="202910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SK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kern="1200" spc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Tahoma"/>
                        </a:rPr>
                        <a:t>프로젝트</a:t>
                      </a:r>
                      <a:endParaRPr lang="en-US" altLang="ko-KR" sz="1000" b="0" u="none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Tahoma"/>
                      </a:endParaRPr>
                    </a:p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kern="1200" spc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Tahoma"/>
                        </a:rPr>
                        <a:t> </a:t>
                      </a:r>
                      <a:r>
                        <a:rPr lang="ko-KR" altLang="en-US" sz="1000" b="0" u="none" kern="1200" spc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Tahoma"/>
                        </a:rPr>
                        <a:t>ㅌ</a:t>
                      </a:r>
                      <a:r>
                        <a:rPr lang="ko-KR" altLang="en-US" sz="1000" kern="1200" spc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</a:rPr>
                        <a:t>ㅌ</a:t>
                      </a:r>
                      <a:endParaRPr lang="en-US" altLang="ko-KR" sz="1000" kern="1200" spc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SK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IT </a:t>
                      </a: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529443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SK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  <a:p>
                      <a:pPr marL="361950" marR="0" lvl="1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 panose="020B0503020204020204" pitchFamily="34" charset="0"/>
                        <a:buChar char="−"/>
                        <a:tabLst>
                          <a:tab pos="180975" algn="l"/>
                        </a:tabLst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Phase</a:t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①</a:t>
                      </a: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ㅇ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  <a:p>
                      <a:pPr marL="361950" marR="0" lvl="1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 panose="020B0503020204020204" pitchFamily="34" charset="0"/>
                        <a:buChar char="−"/>
                        <a:tabLst>
                          <a:tab pos="180975" algn="l"/>
                        </a:tabLst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Phase</a:t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②</a:t>
                      </a: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:</a:t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ㅇㅇ</a:t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7960"/>
                  </a:ext>
                </a:extLst>
              </a:tr>
              <a:tr h="196246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SK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  <a:tr h="202910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5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SK 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</a:t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17260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 txBox="1">
            <a:spLocks/>
          </p:cNvSpPr>
          <p:nvPr/>
        </p:nvSpPr>
        <p:spPr>
          <a:xfrm>
            <a:off x="2649539" y="2908803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lang="ko-KR" altLang="en-US" kern="0" dirty="0">
                <a:solidFill>
                  <a:prstClr val="black"/>
                </a:solidFill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8" name="Down Arrow 4">
            <a:extLst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/>
          <p:nvPr/>
        </p:nvSpPr>
        <p:spPr bwMode="auto">
          <a:xfrm rot="16200000">
            <a:off x="6013903" y="2708415"/>
            <a:ext cx="147320" cy="6834200"/>
          </a:xfrm>
          <a:prstGeom prst="downArrow">
            <a:avLst>
              <a:gd name="adj1" fmla="val 42702"/>
              <a:gd name="adj2" fmla="val 50000"/>
            </a:avLst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itchFamily="34" charset="0"/>
            </a:endParaRPr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/>
          <p:nvPr/>
        </p:nvSpPr>
        <p:spPr>
          <a:xfrm>
            <a:off x="7791013" y="5807412"/>
            <a:ext cx="539745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’26.11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11" name="Oval 36">
            <a:extLst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/>
          <p:nvPr/>
        </p:nvSpPr>
        <p:spPr bwMode="auto">
          <a:xfrm>
            <a:off x="8001483" y="6054931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/>
          <p:nvPr/>
        </p:nvSpPr>
        <p:spPr>
          <a:xfrm>
            <a:off x="3140368" y="5824156"/>
            <a:ext cx="348988" cy="227810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4/30</a:t>
            </a:r>
          </a:p>
        </p:txBody>
      </p:sp>
      <p:sp>
        <p:nvSpPr>
          <p:cNvPr id="14" name="텍스트 개체 틀 17">
            <a:extLst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 txBox="1">
            <a:spLocks/>
          </p:cNvSpPr>
          <p:nvPr/>
        </p:nvSpPr>
        <p:spPr>
          <a:xfrm>
            <a:off x="2468563" y="6178393"/>
            <a:ext cx="1728672" cy="288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ko-KR"/>
            </a:defPPr>
            <a:lvl1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1" sz="1100" b="1" kern="1200">
                <a:solidFill>
                  <a:prstClr val="black"/>
                </a:solidFill>
                <a:latin typeface="+mn-lt"/>
                <a:ea typeface="맑은 고딕"/>
                <a:cs typeface="Tahoma"/>
              </a:defRPr>
            </a:lvl1pPr>
            <a:lvl2pPr marL="360363" indent="-184150" algn="l" defTabSz="914400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4625" algn="l" defTabSz="914400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000" b="0" dirty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rPr>
              <a:t>XX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5" name="Oval 36">
            <a:extLst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/>
          <p:nvPr/>
        </p:nvSpPr>
        <p:spPr bwMode="auto">
          <a:xfrm>
            <a:off x="3255463" y="6062150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16" name="Rectangle 38">
            <a:extLst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/>
          <p:nvPr/>
        </p:nvSpPr>
        <p:spPr>
          <a:xfrm>
            <a:off x="4317609" y="5824156"/>
            <a:ext cx="493258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’26.5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18" name="Oval 36">
            <a:extLst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/>
          <p:nvPr/>
        </p:nvSpPr>
        <p:spPr bwMode="auto">
          <a:xfrm>
            <a:off x="4482665" y="6062150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19" name="Rectangle 38">
            <a:extLst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/>
          <p:nvPr/>
        </p:nvSpPr>
        <p:spPr>
          <a:xfrm>
            <a:off x="6811405" y="5810622"/>
            <a:ext cx="547760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’26.10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21" name="Oval 36">
            <a:extLst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/>
          <p:nvPr/>
        </p:nvSpPr>
        <p:spPr bwMode="auto">
          <a:xfrm>
            <a:off x="7025884" y="6039706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23" name="Rectangle 38">
            <a:extLst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/>
          <p:nvPr/>
        </p:nvSpPr>
        <p:spPr>
          <a:xfrm>
            <a:off x="8846561" y="5807412"/>
            <a:ext cx="448373" cy="227810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’27.Q3</a:t>
            </a:r>
          </a:p>
        </p:txBody>
      </p:sp>
      <p:sp>
        <p:nvSpPr>
          <p:cNvPr id="25" name="Oval 36">
            <a:extLst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/>
          <p:nvPr/>
        </p:nvSpPr>
        <p:spPr bwMode="auto">
          <a:xfrm>
            <a:off x="9011346" y="6045406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/>
          <p:nvPr/>
        </p:nvSpPr>
        <p:spPr>
          <a:xfrm>
            <a:off x="5596623" y="5814353"/>
            <a:ext cx="498067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26" name="Oval 36">
            <a:extLst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/>
          <p:nvPr/>
        </p:nvSpPr>
        <p:spPr bwMode="auto">
          <a:xfrm>
            <a:off x="5747799" y="6065105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/>
          <p:nvPr/>
        </p:nvSpPr>
        <p:spPr>
          <a:xfrm>
            <a:off x="7144684" y="76201"/>
            <a:ext cx="2488265" cy="377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영문 </a:t>
            </a:r>
            <a:r>
              <a:rPr lang="en-US" altLang="ko-KR" sz="1100" dirty="0"/>
              <a:t>Corbel</a:t>
            </a:r>
            <a:br>
              <a:rPr lang="en-US" altLang="ko-KR" sz="1100" dirty="0"/>
            </a:br>
            <a:r>
              <a:rPr lang="ko-KR" altLang="en-US" sz="1100" dirty="0"/>
              <a:t>한글 </a:t>
            </a:r>
            <a:r>
              <a:rPr lang="ko-KR" altLang="en-US" sz="1100" dirty="0" err="1"/>
              <a:t>나눔스퀘어</a:t>
            </a:r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제목은 </a:t>
            </a:r>
            <a:r>
              <a:rPr lang="en-US" altLang="ko-KR" sz="1100" dirty="0" err="1"/>
              <a:t>ExtraBold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2" cy="5653087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7"/>
            <a:ext cx="7965134" cy="5500282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TTT</a:t>
            </a:r>
          </a:p>
          <a:p>
            <a:pPr lvl="1"/>
            <a:r>
              <a:rPr lang="en-US" altLang="ko-KR" dirty="0"/>
              <a:t>TT</a:t>
            </a:r>
          </a:p>
          <a:p>
            <a:pPr lvl="2" indent="-179070">
              <a:spcBef>
                <a:spcPts val="1000"/>
              </a:spcBef>
              <a:defRPr/>
            </a:pPr>
            <a:r>
              <a:rPr lang="ko-KR" altLang="en-US" b="1" dirty="0">
                <a:latin typeface="Corbel" panose="020B0503020204020204" pitchFamily="34" charset="0"/>
                <a:cs typeface="Tahoma"/>
              </a:rPr>
              <a:t>협의  </a:t>
            </a:r>
          </a:p>
          <a:p>
            <a:pPr lvl="3">
              <a:spcBef>
                <a:spcPts val="1000"/>
              </a:spcBef>
              <a:defRPr/>
            </a:pPr>
            <a:r>
              <a:rPr lang="ko-KR" altLang="en-US" dirty="0"/>
              <a:t>소극적 입장 유지</a:t>
            </a:r>
            <a:endParaRPr lang="en-US" altLang="ko-KR" dirty="0"/>
          </a:p>
          <a:p>
            <a:pPr lvl="4">
              <a:defRPr/>
            </a:pPr>
            <a:r>
              <a:rPr lang="ko-KR" altLang="en-US" dirty="0"/>
              <a:t>수용</a:t>
            </a:r>
          </a:p>
          <a:p>
            <a:pPr lvl="4">
              <a:defRPr/>
            </a:pPr>
            <a:r>
              <a:rPr lang="ko-KR" altLang="en-US" dirty="0"/>
              <a:t>신중한 입장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1" y="170119"/>
            <a:ext cx="32060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xx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1)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Sodium Fast Reactor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2)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사업자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-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규제기관 間 협업 플랫폼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,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기술 이해도 제고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/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해외규제사례 분석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/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안전현안 검토 및 해소방안 논의 등 수행 예정      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3)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원자력통제기술원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,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핵물질 통제 및 원전 방호 관련 규제업무 수행 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2" cy="5653087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7"/>
            <a:ext cx="7965134" cy="5500282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>
            <a:pPr lvl="1">
              <a:buFont typeface="+mj-lt"/>
              <a:buAutoNum type="arabicParenR" startAt="2"/>
            </a:pPr>
            <a:r>
              <a:rPr lang="ko-KR" altLang="en-US" dirty="0" err="1"/>
              <a:t>ㅌㅌ</a:t>
            </a:r>
            <a:endParaRPr lang="en-US" altLang="ko-KR" dirty="0"/>
          </a:p>
          <a:p>
            <a:pPr lvl="2" indent="-179070">
              <a:spcBef>
                <a:spcPts val="1000"/>
              </a:spcBef>
              <a:defRPr/>
            </a:pPr>
            <a:r>
              <a:rPr lang="ko-KR" altLang="en-US" b="1" dirty="0" err="1">
                <a:latin typeface="Corbel" panose="020B0503020204020204" pitchFamily="34" charset="0"/>
                <a:cs typeface="Tahoma"/>
              </a:rPr>
              <a:t>ㅌㅌ</a:t>
            </a:r>
            <a:endParaRPr lang="en-US" altLang="ko-KR" b="1" dirty="0">
              <a:latin typeface="Corbel" panose="020B0503020204020204" pitchFamily="34" charset="0"/>
              <a:cs typeface="Tahoma"/>
            </a:endParaRPr>
          </a:p>
          <a:p>
            <a:pPr marL="535305" lvl="2" indent="0">
              <a:spcBef>
                <a:spcPts val="1000"/>
              </a:spcBef>
              <a:buNone/>
              <a:defRPr/>
            </a:pPr>
            <a:br>
              <a:rPr lang="en-US" altLang="ko-KR" b="1" dirty="0">
                <a:latin typeface="Corbel" panose="020B0503020204020204" pitchFamily="34" charset="0"/>
                <a:cs typeface="Tahoma"/>
              </a:rPr>
            </a:br>
            <a:br>
              <a:rPr lang="en-US" altLang="ko-KR" b="1" dirty="0">
                <a:latin typeface="Corbel" panose="020B0503020204020204" pitchFamily="34" charset="0"/>
                <a:cs typeface="Tahoma"/>
              </a:rPr>
            </a:br>
            <a:br>
              <a:rPr lang="en-US" altLang="ko-KR" b="1" dirty="0">
                <a:latin typeface="Corbel" panose="020B0503020204020204" pitchFamily="34" charset="0"/>
                <a:cs typeface="Tahoma"/>
              </a:rPr>
            </a:br>
            <a:endParaRPr lang="en-US" altLang="ko-KR" b="1" dirty="0">
              <a:highlight>
                <a:srgbClr val="DCE6F2"/>
              </a:highlight>
              <a:latin typeface="Corbel" panose="020B0503020204020204" pitchFamily="34" charset="0"/>
            </a:endParaRPr>
          </a:p>
          <a:p>
            <a:pPr lvl="2" indent="-179070">
              <a:spcBef>
                <a:spcPts val="1500"/>
              </a:spcBef>
              <a:defRPr/>
            </a:pP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 panose="020B0503020204020204" pitchFamily="34" charset="0"/>
              <a:cs typeface="Tahoma"/>
            </a:endParaRPr>
          </a:p>
          <a:p>
            <a:pPr marL="535305" lvl="2" indent="0">
              <a:spcBef>
                <a:spcPts val="1500"/>
              </a:spcBef>
              <a:buNone/>
              <a:defRPr/>
            </a:pPr>
            <a:b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DCE6F2"/>
                </a:highlight>
                <a:latin typeface="Corbel" panose="020B0503020204020204" pitchFamily="34" charset="0"/>
                <a:cs typeface="Tahoma"/>
              </a:rPr>
            </a:b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 panose="020B0503020204020204" pitchFamily="34" charset="0"/>
              <a:cs typeface="Tahoma"/>
            </a:endParaRPr>
          </a:p>
          <a:p>
            <a:pPr lvl="2" indent="-179070">
              <a:spcBef>
                <a:spcPts val="1500"/>
              </a:spcBef>
              <a:defRPr/>
            </a:pPr>
            <a:r>
              <a:rPr lang="ko-KR" altLang="en-US" b="1" dirty="0" err="1">
                <a:latin typeface="Corbel" panose="020B0503020204020204" pitchFamily="34" charset="0"/>
                <a:cs typeface="Tahoma"/>
              </a:rPr>
              <a:t>ㅇㅇ</a:t>
            </a:r>
            <a:endParaRPr lang="en-US" altLang="ko-KR" b="1" baseline="30000" dirty="0">
              <a:latin typeface="Corbel" panose="020B0503020204020204" pitchFamily="34" charset="0"/>
              <a:cs typeface="Tahoma"/>
            </a:endParaRPr>
          </a:p>
          <a:p>
            <a:pPr lvl="3">
              <a:spcBef>
                <a:spcPts val="1000"/>
              </a:spcBef>
              <a:defRPr/>
            </a:pPr>
            <a:r>
              <a:rPr lang="ko-KR" altLang="en-US" dirty="0"/>
              <a:t>ㅇ中 </a:t>
            </a:r>
            <a:endParaRPr lang="en-US" altLang="ko-KR" dirty="0"/>
          </a:p>
          <a:p>
            <a:pPr lvl="4">
              <a:defRPr/>
            </a:pPr>
            <a:r>
              <a:rPr lang="ko-KR" altLang="en-US" dirty="0" err="1"/>
              <a:t>ㅇ선정</a:t>
            </a:r>
            <a:r>
              <a:rPr lang="ko-KR" altLang="en-US" dirty="0"/>
              <a:t> 中</a:t>
            </a: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sz="700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sz="600" dirty="0"/>
          </a:p>
          <a:p>
            <a:pPr lvl="4">
              <a:defRPr/>
            </a:pP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cs typeface="Tahoma"/>
            </a:endParaRPr>
          </a:p>
          <a:p>
            <a:pPr lvl="2" indent="-179070">
              <a:spcBef>
                <a:spcPts val="2500"/>
              </a:spcBef>
              <a:defRPr/>
            </a:pPr>
            <a:r>
              <a:rPr lang="ko-KR" altLang="en-US" b="1" dirty="0">
                <a:latin typeface="Corbel" panose="020B0503020204020204" pitchFamily="34" charset="0"/>
              </a:rPr>
              <a:t>협력</a:t>
            </a:r>
          </a:p>
          <a:p>
            <a:pPr lvl="3">
              <a:defRPr/>
            </a:pPr>
            <a:r>
              <a:rPr lang="ko-KR" altLang="en-US" dirty="0" err="1"/>
              <a:t>ㅇㅇ</a:t>
            </a:r>
            <a:endParaRPr lang="en-US" altLang="ko-KR" dirty="0"/>
          </a:p>
          <a:p>
            <a:pPr lvl="4">
              <a:defRPr/>
            </a:pPr>
            <a:r>
              <a:rPr lang="ko-KR" altLang="en-US" dirty="0" err="1"/>
              <a:t>ㅇ</a:t>
            </a:r>
            <a:r>
              <a:rPr lang="ko-KR" altLang="en-US" dirty="0"/>
              <a:t> 中</a:t>
            </a:r>
            <a:endParaRPr lang="en-US" altLang="ko-KR" dirty="0"/>
          </a:p>
          <a:p>
            <a:pPr marL="714375" lvl="3" indent="0">
              <a:buNone/>
              <a:defRPr/>
            </a:pPr>
            <a:r>
              <a:rPr lang="en-US" altLang="ko-KR" dirty="0"/>
              <a:t> </a:t>
            </a:r>
            <a:r>
              <a:rPr lang="en-US" altLang="ko-KR" b="1" u="sng" dirty="0"/>
              <a:t>MOU </a:t>
            </a:r>
            <a:r>
              <a:rPr lang="ko-KR" altLang="en-US" b="1" u="sng" dirty="0"/>
              <a:t>추진</a:t>
            </a:r>
            <a:endParaRPr lang="en-US" altLang="ko-KR" b="1" u="sng" dirty="0"/>
          </a:p>
          <a:p>
            <a:pPr lvl="3">
              <a:spcBef>
                <a:spcPts val="1000"/>
              </a:spcBef>
              <a:defRPr/>
            </a:pPr>
            <a:endParaRPr lang="en-US" altLang="ko-KR" baseline="30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1" y="170119"/>
            <a:ext cx="56105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ㅇㅇ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1)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Sodium Fast Reactor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2)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사업자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-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규제기관 間 협업 플랫폼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,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기술 이해도 제고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/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해외규제사례 분석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/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안전현안 검토 및 해소방안 논의 등 수행 예정      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3)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원자력통제기술원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,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핵물질 통제 및 원전 방호 관련 규제업무 수행 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7"/>
          <a:ext cx="6875461" cy="76122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송전</a:t>
                      </a:r>
                      <a:r>
                        <a:rPr kumimoji="1" lang="en-US" altLang="ko-KR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Infra</a:t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00" b="1" kern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</a:rPr>
                        <a:t>ㅇㅇ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</a:rPr>
                        <a:t>높음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높음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보유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SMR </a:t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한정 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2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00" b="1" kern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/>
          <p:nvPr/>
        </p:nvSpPr>
        <p:spPr>
          <a:xfrm>
            <a:off x="3050220" y="1063668"/>
            <a:ext cx="2488265" cy="377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동일 주제 </a:t>
            </a:r>
            <a:r>
              <a:rPr lang="en-US" altLang="ko-KR" sz="1100" dirty="0"/>
              <a:t>(TTT)</a:t>
            </a:r>
            <a:r>
              <a:rPr lang="ko-KR" altLang="en-US" sz="1100" dirty="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254</Words>
  <Application>Microsoft Office PowerPoint</Application>
  <PresentationFormat>A4 용지(210x297mm)</PresentationFormat>
  <Paragraphs>111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나눔스퀘어</vt:lpstr>
      <vt:lpstr>나눔스퀘어 ExtraBold</vt:lpstr>
      <vt:lpstr>맑은 고딕</vt:lpstr>
      <vt:lpstr>Aptos</vt:lpstr>
      <vt:lpstr>Aptos Display</vt:lpstr>
      <vt:lpstr>Arial</vt:lpstr>
      <vt:lpstr>Corbel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>SKI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우선영(SUNYOUNG WOO)/사업기획3팀/SKI</dc:creator>
  <cp:lastModifiedBy>김송이(SONGIH KIM)/경영관리역량/SKI</cp:lastModifiedBy>
  <cp:revision>2</cp:revision>
  <dcterms:created xsi:type="dcterms:W3CDTF">2026-06-17T01:22:33Z</dcterms:created>
  <dcterms:modified xsi:type="dcterms:W3CDTF">2026-07-27T01:21:38Z</dcterms:modified>
</cp:coreProperties>
</file>