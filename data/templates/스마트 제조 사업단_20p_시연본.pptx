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1350" y="7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7CBB0D-E5EF-4FAE-AC64-57AE6C72DF5A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E399B1-9546-4707-90D6-EDF3369BA7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633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6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753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407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112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193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626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625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019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717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30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271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16"/>
          <p:cNvSpPr txBox="1">
            <a:spLocks/>
          </p:cNvSpPr>
          <p:nvPr userDrawn="1"/>
        </p:nvSpPr>
        <p:spPr>
          <a:xfrm>
            <a:off x="7563290" y="6623050"/>
            <a:ext cx="2311400" cy="228600"/>
          </a:xfrm>
          <a:prstGeom prst="rect">
            <a:avLst/>
          </a:prstGeom>
        </p:spPr>
        <p:txBody>
          <a:bodyPr rIns="36000"/>
          <a:lstStyle>
            <a:lvl1pPr>
              <a:defRPr sz="1100" b="1">
                <a:solidFill>
                  <a:schemeClr val="tx1"/>
                </a:solidFill>
                <a:latin typeface="Trebuchet MS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 </a:t>
            </a:r>
            <a:fld id="{7C14344A-CACA-478F-85C5-D0BB66BC0415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 pitchFamily="50" charset="-127"/>
              <a:cs typeface="Tahoma" panose="020B0604030504040204" pitchFamily="34" charset="0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7447288"/>
              </p:ext>
            </p:extLst>
          </p:nvPr>
        </p:nvGraphicFramePr>
        <p:xfrm>
          <a:off x="273050" y="631783"/>
          <a:ext cx="9372501" cy="5965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1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208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400" b="1" u="none" kern="1200" baseline="0">
                          <a:solidFill>
                            <a:srgbClr val="000000"/>
                          </a:solidFill>
                          <a:latin typeface="Corbel" panose="020B0600000101010101" pitchFamily="50" charset="-127"/>
                          <a:ea typeface="나눔스퀘어 ExtraBold" panose="020B0600000101010101" pitchFamily="50" charset="-127"/>
                          <a:cs typeface="Tahoma" panose="020B0604030504040204" pitchFamily="34" charset="0"/>
                        </a:rPr>
                        <a:t>구 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3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400" b="1" u="none" kern="1200" baseline="0">
                          <a:solidFill>
                            <a:srgbClr val="000000"/>
                          </a:solidFill>
                          <a:latin typeface="Corbel" panose="020B0600000101010101" pitchFamily="50" charset="-127"/>
                          <a:ea typeface="나눔스퀘어 ExtraBold" panose="020B0600000101010101" pitchFamily="50" charset="-127"/>
                          <a:cs typeface="Tahoma" panose="020B0604030504040204" pitchFamily="34" charset="0"/>
                        </a:rPr>
                        <a:t>주요 내용</a:t>
                      </a:r>
                      <a:endParaRPr kumimoji="1" lang="en-US" altLang="ko-KR" sz="1400" b="1" u="none" kern="1200" baseline="0">
                        <a:solidFill>
                          <a:schemeClr val="tx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655">
                <a:tc>
                  <a:txBody>
                    <a:bodyPr/>
                    <a:lstStyle/>
                    <a:p>
                      <a:pPr algn="ctr" defTabSz="895350" latinLnBrk="0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SzPct val="120000"/>
                      </a:pPr>
                      <a:endParaRPr lang="en-US" altLang="ko-KR" sz="1400" b="1" u="none" baseline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맑은 고딕" panose="020B0503020000020004" pitchFamily="50" charset="-127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맑은 고딕" panose="020B0503020000020004" pitchFamily="50" charset="-127"/>
                        <a:cs typeface="Tahoma" panose="020B0604030504040204" pitchFamily="34" charset="0"/>
                        <a:sym typeface="Wingdings" panose="05000000000000000000" pitchFamily="2" charset="2"/>
                      </a:endParaRPr>
                    </a:p>
                    <a:p>
                      <a:pPr marL="719138" marR="0" lvl="1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  <a:defRPr/>
                      </a:pP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맑은 고딕" panose="020B0503020000020004" pitchFamily="50" charset="-127"/>
                        <a:cs typeface="Tahoma" panose="020B0604030504040204" pitchFamily="34" charset="0"/>
                        <a:sym typeface="Wingdings" panose="05000000000000000000" pitchFamily="2" charset="2"/>
                      </a:endParaRPr>
                    </a:p>
                    <a:p>
                      <a:pPr marL="719138" marR="0" lvl="1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  <a:defRPr/>
                      </a:pP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맑은 고딕" panose="020B0503020000020004" pitchFamily="50" charset="-127"/>
                        <a:cs typeface="Tahoma" panose="020B0604030504040204" pitchFamily="34" charset="0"/>
                        <a:sym typeface="Wingdings" panose="05000000000000000000" pitchFamily="2" charset="2"/>
                      </a:endParaRPr>
                    </a:p>
                    <a:p>
                      <a:pPr marL="719138" marR="0" lvl="1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  <a:defRPr/>
                      </a:pP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맑은 고딕" panose="020B0503020000020004" pitchFamily="50" charset="-127"/>
                        <a:cs typeface="Tahoma" panose="020B0604030504040204" pitchFamily="34" charset="0"/>
                        <a:sym typeface="Wingdings" panose="05000000000000000000" pitchFamily="2" charset="2"/>
                      </a:endParaRPr>
                    </a:p>
                  </a:txBody>
                  <a:tcPr marR="0" marT="252000" marB="468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1658938" y="1196975"/>
            <a:ext cx="7986615" cy="5184775"/>
          </a:xfrm>
        </p:spPr>
        <p:txBody>
          <a:bodyPr>
            <a:noAutofit/>
          </a:bodyPr>
          <a:lstStyle>
            <a:lvl1pPr marL="265113" indent="-265113" latinLnBrk="0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  <a:defRPr lang="en-US" altLang="ko-KR" sz="1400" b="1" kern="1200" baseline="0" dirty="0" smtClean="0">
                <a:solidFill>
                  <a:prstClr val="black"/>
                </a:solidFill>
                <a:latin typeface="Corbel" panose="020B0503020204020204" pitchFamily="34" charset="0"/>
                <a:ea typeface="나눔스퀘어 ExtraBold" panose="020B0600000101010101" pitchFamily="50" charset="-127"/>
                <a:cs typeface="Tahoma" panose="020B0604030504040204" pitchFamily="34" charset="0"/>
              </a:defRPr>
            </a:lvl1pPr>
            <a:lvl2pPr marL="538163" indent="-266700" latinLnBrk="0">
              <a:spcBef>
                <a:spcPts val="1000"/>
              </a:spcBef>
              <a:spcAft>
                <a:spcPts val="0"/>
              </a:spcAft>
              <a:buFont typeface="+mj-lt"/>
              <a:buAutoNum type="arabicParenR"/>
              <a:defRPr sz="1300" b="1" baseline="0">
                <a:latin typeface="Corbel" panose="020B0503020204020204" pitchFamily="34" charset="0"/>
                <a:ea typeface="나눔스퀘어" panose="020B0600000101010101" pitchFamily="50" charset="-127"/>
              </a:defRPr>
            </a:lvl2pPr>
            <a:lvl3pPr marL="714375" indent="-179388" latinLnBrk="0">
              <a:spcBef>
                <a:spcPts val="500"/>
              </a:spcBef>
              <a:spcAft>
                <a:spcPts val="0"/>
              </a:spcAft>
              <a:buFont typeface="Wingdings" panose="05000000000000000000" pitchFamily="2" charset="2"/>
              <a:buChar char=""/>
              <a:defRPr lang="en-US" altLang="ko-KR" sz="1200" b="0" kern="1200" baseline="0" dirty="0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  <a:sym typeface="Wingdings" panose="05000000000000000000" pitchFamily="2" charset="2"/>
              </a:defRPr>
            </a:lvl3pPr>
            <a:lvl4pPr marL="892175" indent="-177800" latinLnBrk="0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–"/>
              <a:defRPr sz="1100" b="0" baseline="0">
                <a:latin typeface="Corbel" panose="020B0503020204020204" pitchFamily="34" charset="0"/>
                <a:ea typeface="나눔스퀘어" panose="020B0600000101010101" pitchFamily="50" charset="-127"/>
                <a:sym typeface="Wingdings" panose="05000000000000000000" pitchFamily="2" charset="2"/>
              </a:defRPr>
            </a:lvl4pPr>
            <a:lvl5pPr marL="1081088" indent="-188913" latinLnBrk="0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000" b="0" baseline="0">
                <a:latin typeface="Corbel" panose="020B0503020204020204" pitchFamily="34" charset="0"/>
                <a:ea typeface="나눔스퀘어" panose="020B0600000101010101" pitchFamily="50" charset="-127"/>
                <a:sym typeface="Wingdings" panose="05000000000000000000" pitchFamily="2" charset="2"/>
              </a:defRPr>
            </a:lvl5pPr>
          </a:lstStyle>
          <a:p>
            <a:pPr lvl="0"/>
            <a:r>
              <a:rPr lang="ko-KR" altLang="en-US"/>
              <a:t>대 제목</a:t>
            </a:r>
            <a:endParaRPr lang="en-US" altLang="ko-KR"/>
          </a:p>
          <a:p>
            <a:pPr lvl="1"/>
            <a:r>
              <a:rPr lang="ko-KR" altLang="en-US"/>
              <a:t>두번째</a:t>
            </a:r>
            <a:endParaRPr lang="en-US" altLang="ko-KR"/>
          </a:p>
          <a:p>
            <a:pPr lvl="2"/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Level 1 </a:t>
            </a:r>
            <a:b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</a:b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* Level 1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참고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시</a:t>
            </a:r>
            <a:b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</a:b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 Level 2 </a:t>
            </a:r>
            <a:r>
              <a:rPr kumimoji="0" lang="ko-KR" alt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소결시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endParaRPr lang="en-US" altLang="ko-KR" sz="1200" b="1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  <a:sym typeface="Wingdings" panose="05000000000000000000" pitchFamily="2" charset="2"/>
            </a:endParaRPr>
          </a:p>
          <a:p>
            <a:pPr lvl="3"/>
            <a:r>
              <a:rPr lang="en-US" altLang="ko-KR"/>
              <a:t>Level 2</a:t>
            </a:r>
            <a:br>
              <a:rPr lang="en-US" altLang="ko-KR"/>
            </a:br>
            <a:r>
              <a:rPr lang="en-US" altLang="ko-KR"/>
              <a:t>* Level 2 </a:t>
            </a:r>
            <a:r>
              <a:rPr lang="ko-KR" altLang="en-US" err="1"/>
              <a:t>참고시</a:t>
            </a:r>
            <a:r>
              <a:rPr lang="en-US" altLang="ko-KR"/>
              <a:t> </a:t>
            </a:r>
            <a:br>
              <a:rPr lang="en-US" altLang="ko-KR"/>
            </a:br>
            <a:r>
              <a:rPr lang="en-US" altLang="ko-KR"/>
              <a:t> Level 2 </a:t>
            </a:r>
            <a:r>
              <a:rPr lang="ko-KR" altLang="en-US" err="1"/>
              <a:t>소결시</a:t>
            </a:r>
            <a:r>
              <a:rPr lang="en-US" altLang="ko-KR"/>
              <a:t> </a:t>
            </a:r>
          </a:p>
          <a:p>
            <a:pPr lvl="4"/>
            <a:r>
              <a:rPr lang="en-US" altLang="ko-KR"/>
              <a:t>Level 3</a:t>
            </a:r>
            <a:br>
              <a:rPr lang="en-US" altLang="ko-KR"/>
            </a:br>
            <a:r>
              <a:rPr lang="en-US" altLang="ko-KR"/>
              <a:t>* Level 3 </a:t>
            </a:r>
            <a:r>
              <a:rPr lang="ko-KR" altLang="en-US"/>
              <a:t>의</a:t>
            </a:r>
            <a:r>
              <a:rPr lang="en-US" altLang="ko-KR"/>
              <a:t> </a:t>
            </a:r>
            <a:r>
              <a:rPr lang="ko-KR" altLang="en-US"/>
              <a:t>참고 </a:t>
            </a:r>
            <a:br>
              <a:rPr lang="en-US" altLang="ko-KR"/>
            </a:br>
            <a:r>
              <a:rPr lang="en-US" altLang="ko-KR"/>
              <a:t> level 3 </a:t>
            </a:r>
            <a:r>
              <a:rPr lang="ko-KR" altLang="en-US"/>
              <a:t>의</a:t>
            </a:r>
            <a:r>
              <a:rPr lang="en-US" altLang="ko-KR"/>
              <a:t> </a:t>
            </a:r>
            <a:r>
              <a:rPr lang="ko-KR" altLang="en-US"/>
              <a:t>소결</a:t>
            </a:r>
            <a:endParaRPr lang="en-US" altLang="ko-KR"/>
          </a:p>
          <a:p>
            <a:pPr lvl="4"/>
            <a:endParaRPr lang="ko-KR" altLang="en-US"/>
          </a:p>
          <a:p>
            <a:pPr lvl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10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691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>
          <a:extLst>
            <a:ext uri="{FF2B5EF4-FFF2-40B4-BE49-F238E27FC236}">
              <a16:creationId xmlns:a16="http://schemas.microsoft.com/office/drawing/2014/main" id="{0C832D66-FFB1-83CF-F984-0F2FBA3FB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B414C624-F1F1-F45E-6306-DC6CC262BB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8938" y="1097366"/>
            <a:ext cx="7965133" cy="5500282"/>
          </a:xfrm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AI 기반 자율제조 운영체계 구축</a:t>
            </a:r>
            <a:endParaRPr lang="en-US" altLang="ko-KR" dirty="0">
              <a:solidFill>
                <a:schemeClr val="tx1"/>
              </a:solidFill>
            </a:endParaRPr>
          </a:p>
          <a:p>
            <a:pPr lvl="1" algn="l"/>
            <a:r>
              <a:rPr sz="13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Phase 1 · 사업 개요 및 전체 일정</a:t>
            </a:r>
          </a:p>
          <a:p>
            <a:pPr lvl="2" algn="l"/>
            <a:r>
              <a:rPr sz="12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경영진 보고</a:t>
            </a:r>
          </a:p>
          <a:p>
            <a:pPr lvl="3" algn="l"/>
            <a:r>
              <a:rPr sz="11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공정 데이터 기반 생산성 향상과 비가동 시간 절감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SK하이닉스 중심 실무협의 후 CEO 보고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SK실트론·SK C&amp;C 공동 검토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E0CA606-66CD-58FC-CA82-FDE3237D8150}"/>
              </a:ext>
            </a:extLst>
          </p:cNvPr>
          <p:cNvSpPr/>
          <p:nvPr/>
        </p:nvSpPr>
        <p:spPr>
          <a:xfrm>
            <a:off x="272480" y="944562"/>
            <a:ext cx="1391281" cy="5653086"/>
          </a:xfrm>
          <a:prstGeom prst="rect">
            <a:avLst/>
          </a:prstGeom>
          <a:noFill/>
        </p:spPr>
        <p:txBody>
          <a:bodyPr wrap="none" anchor="ctr" anchorCtr="0">
            <a:noAutofit/>
          </a:bodyPr>
          <a:lstStyle/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SMART
FACTORY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8202E5-9A81-C175-C494-86ACBC462496}"/>
              </a:ext>
            </a:extLst>
          </p:cNvPr>
          <p:cNvSpPr txBox="1"/>
          <p:nvPr/>
        </p:nvSpPr>
        <p:spPr>
          <a:xfrm>
            <a:off x="273050" y="170118"/>
            <a:ext cx="6583680" cy="461665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사업 개요 및 전체 일정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19A85A1-9CBD-A823-F744-50FBC627E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041155"/>
              </p:ext>
            </p:extLst>
          </p:nvPr>
        </p:nvGraphicFramePr>
        <p:xfrm>
          <a:off x="2649538" y="3244741"/>
          <a:ext cx="6875462" cy="2123640"/>
        </p:xfrm>
        <a:graphic>
          <a:graphicData uri="http://schemas.openxmlformats.org/drawingml/2006/table">
            <a:tbl>
              <a:tblPr/>
              <a:tblGrid>
                <a:gridCol w="909450">
                  <a:extLst>
                    <a:ext uri="{9D8B030D-6E8A-4147-A177-3AD203B41FA5}">
                      <a16:colId xmlns:a16="http://schemas.microsoft.com/office/drawing/2014/main" val="3685127304"/>
                    </a:ext>
                  </a:extLst>
                </a:gridCol>
                <a:gridCol w="5966012">
                  <a:extLst>
                    <a:ext uri="{9D8B030D-6E8A-4147-A177-3AD203B41FA5}">
                      <a16:colId xmlns:a16="http://schemas.microsoft.com/office/drawing/2014/main" val="909544951"/>
                    </a:ext>
                  </a:extLst>
                </a:gridCol>
              </a:tblGrid>
              <a:tr h="202910"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구분</a:t>
                      </a:r>
                    </a:p>
                  </a:txBody>
                  <a:tcPr marL="0" marR="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협의 경과</a:t>
                      </a: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07981"/>
                  </a:ext>
                </a:extLst>
              </a:tr>
              <a:tr h="362845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SK하이닉스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디지털 트윈 범위 및 프로젝트 목표 협의</a:t>
                      </a:r>
                      <a:endParaRPr lang="en-US" altLang="ko-KR" sz="1000" b="0" u="none" kern="1200" spc="0" baseline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Tahoma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12203"/>
                  </a:ext>
                </a:extLst>
              </a:tr>
              <a:tr h="362845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SK실트론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예지보전 기술조건과 운영방안 검토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18108"/>
                  </a:ext>
                </a:extLst>
              </a:tr>
              <a:tr h="529443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SK C&amp;C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품질 인프라 및 비용 구조 검토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77960"/>
                  </a:ext>
                </a:extLst>
              </a:tr>
              <a:tr h="196246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설비 파트너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공정 관련 협력 가능성 확인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963089"/>
                  </a:ext>
                </a:extLst>
              </a:tr>
              <a:tr h="202910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사업단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단계별 의사결정 자료 통합</a:t>
                      </a:r>
                      <a:endParaRPr lang="en-US" altLang="ko-KR" sz="1000" kern="1200" spc="0" baseline="3000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17260"/>
                  </a:ext>
                </a:extLst>
              </a:tr>
            </a:tbl>
          </a:graphicData>
        </a:graphic>
      </p:graphicFrame>
      <p:sp>
        <p:nvSpPr>
          <p:cNvPr id="5" name="텍스트 개체 틀 17">
            <a:extLst>
              <a:ext uri="{FF2B5EF4-FFF2-40B4-BE49-F238E27FC236}">
                <a16:creationId xmlns:a16="http://schemas.microsoft.com/office/drawing/2014/main" id="{9B94B0CC-2598-8646-C878-CF268875FDF5}"/>
              </a:ext>
            </a:extLst>
          </p:cNvPr>
          <p:cNvSpPr txBox="1">
            <a:spLocks/>
          </p:cNvSpPr>
          <p:nvPr/>
        </p:nvSpPr>
        <p:spPr>
          <a:xfrm>
            <a:off x="2649539" y="2908803"/>
            <a:ext cx="6875462" cy="283365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Autofit/>
          </a:bodyPr>
          <a:lstStyle>
            <a:lvl1pPr marL="176213" indent="-176213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1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360363" indent="-184150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534988" indent="-174625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【</a:t>
            </a:r>
            <a:r>
              <a: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lang="ko-KR" altLang="en-US" kern="0" dirty="0">
                <a:solidFill>
                  <a:prstClr val="black"/>
                </a:solidFill>
                <a:latin typeface="Corbel" panose="020B0503020204020204" pitchFamily="34" charset="0"/>
                <a:ea typeface="나눔스퀘어" panose="020B0600000101010101" pitchFamily="50" charset="-127"/>
              </a:rPr>
              <a:t>표</a:t>
            </a:r>
            <a:r>
              <a: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】</a:t>
            </a:r>
            <a:r>
              <a: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041" y="6647300"/>
            <a:ext cx="9350335" cy="2154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※ 본 자료는 스마트 제조 사업단 시연을 위해 생성한 가상 데이터이며 실제 사업정보가 아닙니다.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6149888"/>
            <a:ext cx="6793992" cy="50292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9354312" y="6099596"/>
            <a:ext cx="146304" cy="146304"/>
          </a:xfrm>
          <a:prstGeom prst="triangle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0" y="5715000"/>
            <a:ext cx="2011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Project 진행 일정(案)</a:t>
            </a:r>
          </a:p>
        </p:txBody>
      </p:sp>
      <p:sp>
        <p:nvSpPr>
          <p:cNvPr id="31" name="Oval 30"/>
          <p:cNvSpPr/>
          <p:nvPr/>
        </p:nvSpPr>
        <p:spPr>
          <a:xfrm>
            <a:off x="3159252" y="6113312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0" y="5924946"/>
            <a:ext cx="7680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'26.4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79776" y="6254861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Kick-off</a:t>
            </a:r>
          </a:p>
        </p:txBody>
      </p:sp>
      <p:sp>
        <p:nvSpPr>
          <p:cNvPr id="34" name="Oval 33"/>
          <p:cNvSpPr/>
          <p:nvPr/>
        </p:nvSpPr>
        <p:spPr>
          <a:xfrm>
            <a:off x="4342485" y="6113312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17873" y="5924946"/>
            <a:ext cx="7680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'26.5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63009" y="6254861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요건정의</a:t>
            </a:r>
          </a:p>
        </p:txBody>
      </p:sp>
      <p:sp>
        <p:nvSpPr>
          <p:cNvPr id="37" name="Oval 36"/>
          <p:cNvSpPr/>
          <p:nvPr/>
        </p:nvSpPr>
        <p:spPr>
          <a:xfrm>
            <a:off x="5525719" y="6113312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01107" y="5924946"/>
            <a:ext cx="7680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'26.6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46243" y="6254861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대안검토</a:t>
            </a:r>
          </a:p>
        </p:txBody>
      </p:sp>
      <p:sp>
        <p:nvSpPr>
          <p:cNvPr id="40" name="Oval 39"/>
          <p:cNvSpPr/>
          <p:nvPr/>
        </p:nvSpPr>
        <p:spPr>
          <a:xfrm>
            <a:off x="6708952" y="6113312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4340" y="5924946"/>
            <a:ext cx="7680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'26.8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9476" y="6254861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실증</a:t>
            </a:r>
          </a:p>
        </p:txBody>
      </p:sp>
      <p:sp>
        <p:nvSpPr>
          <p:cNvPr id="43" name="Oval 42"/>
          <p:cNvSpPr/>
          <p:nvPr/>
        </p:nvSpPr>
        <p:spPr>
          <a:xfrm>
            <a:off x="7892186" y="6113312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67574" y="5924946"/>
            <a:ext cx="7680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'26.10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12710" y="6254861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CEO보고</a:t>
            </a:r>
          </a:p>
        </p:txBody>
      </p:sp>
      <p:sp>
        <p:nvSpPr>
          <p:cNvPr id="46" name="Oval 45"/>
          <p:cNvSpPr/>
          <p:nvPr/>
        </p:nvSpPr>
        <p:spPr>
          <a:xfrm>
            <a:off x="9075420" y="6113312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50808" y="5924946"/>
            <a:ext cx="7680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'27.Q1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95944" y="6254861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확대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>
          <a:extLst>
            <a:ext uri="{FF2B5EF4-FFF2-40B4-BE49-F238E27FC236}">
              <a16:creationId xmlns:a16="http://schemas.microsoft.com/office/drawing/2014/main" id="{F3DD9458-6313-B51C-866A-47B563CF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0FF554-4351-B6AB-376A-35C4303A02DA}"/>
              </a:ext>
            </a:extLst>
          </p:cNvPr>
          <p:cNvSpPr/>
          <p:nvPr/>
        </p:nvSpPr>
        <p:spPr>
          <a:xfrm>
            <a:off x="272480" y="944562"/>
            <a:ext cx="1391281" cy="5653086"/>
          </a:xfrm>
          <a:prstGeom prst="rect">
            <a:avLst/>
          </a:prstGeom>
          <a:noFill/>
        </p:spPr>
        <p:txBody>
          <a:bodyPr wrap="none" anchor="ctr" anchorCtr="0">
            <a:noAutofit/>
          </a:bodyPr>
          <a:lstStyle/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SMART
FACTORY</a:t>
            </a: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2C0E2E5F-5851-8A41-2CC5-F18557058D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8938" y="1097366"/>
            <a:ext cx="7965133" cy="5500282"/>
          </a:xfrm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AI 기반 자율제조 운영체계 구축</a:t>
            </a:r>
          </a:p>
          <a:p>
            <a:pPr lvl="1" algn="l"/>
            <a:r>
              <a:rPr sz="13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Phase 1 · 추진 배경과 문제 정의</a:t>
            </a:r>
          </a:p>
          <a:p>
            <a:pPr lvl="2" algn="l"/>
            <a:r>
              <a:rPr sz="12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현황</a:t>
            </a:r>
          </a:p>
          <a:p>
            <a:pPr lvl="3" algn="l"/>
            <a:r>
              <a:rPr sz="11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디지털 트윈 관련 수요는 확대되고 있으나 사업단별 정보와 의사결정 기준이 분산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예지보전·품질 조건을 통합한 공통 실행안 필요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보고 단계별 핵심 쟁점과 근거를 일관된 형식으로 관리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02D2E7-813E-6E99-58D0-8D2BEB2455D8}"/>
              </a:ext>
            </a:extLst>
          </p:cNvPr>
          <p:cNvSpPr txBox="1"/>
          <p:nvPr/>
        </p:nvSpPr>
        <p:spPr>
          <a:xfrm>
            <a:off x="273050" y="170118"/>
            <a:ext cx="6583680" cy="461665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추진 배경과 문제 정의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C7791A-BA6A-2957-973C-EA800BD9C0F1}"/>
              </a:ext>
            </a:extLst>
          </p:cNvPr>
          <p:cNvSpPr txBox="1"/>
          <p:nvPr/>
        </p:nvSpPr>
        <p:spPr>
          <a:xfrm>
            <a:off x="280041" y="6647300"/>
            <a:ext cx="9350335" cy="215443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※ 본 자료는 스마트 제조 사업단 시연을 위해 생성한 가상 데이터이며 실제 사업정보가 아닙니다.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>
          <a:extLst>
            <a:ext uri="{FF2B5EF4-FFF2-40B4-BE49-F238E27FC236}">
              <a16:creationId xmlns:a16="http://schemas.microsoft.com/office/drawing/2014/main" id="{A8EA50D1-18E7-178C-9D2A-B4E4C652B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4BAA677-C132-8B73-027B-6C9DB766669C}"/>
              </a:ext>
            </a:extLst>
          </p:cNvPr>
          <p:cNvSpPr/>
          <p:nvPr/>
        </p:nvSpPr>
        <p:spPr>
          <a:xfrm>
            <a:off x="272480" y="944562"/>
            <a:ext cx="1391281" cy="5653086"/>
          </a:xfrm>
          <a:prstGeom prst="rect">
            <a:avLst/>
          </a:prstGeom>
          <a:noFill/>
        </p:spPr>
        <p:txBody>
          <a:bodyPr wrap="none" anchor="ctr" anchorCtr="0">
            <a:noAutofit/>
          </a:bodyPr>
          <a:lstStyle/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SMART
FACTORY</a:t>
            </a: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A6769721-62EF-F654-B5D9-FDF5037B04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8938" y="1097366"/>
            <a:ext cx="7965133" cy="5500282"/>
          </a:xfrm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AI 기반 자율제조 운영체계 구축</a:t>
            </a:r>
          </a:p>
          <a:p>
            <a:pPr lvl="1" algn="l"/>
            <a:r>
              <a:rPr sz="13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Phase 1 · 핵심 과제 및 실행 대안</a:t>
            </a:r>
          </a:p>
          <a:p>
            <a:pPr lvl="2" algn="l"/>
            <a:r>
              <a:rPr sz="12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핵심 판단</a:t>
            </a:r>
          </a:p>
          <a:p>
            <a:pPr lvl="3" algn="l"/>
            <a:r>
              <a:rPr sz="11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품질 중심의 실행 범위와 담당 조직을 구체화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SK C&amp;C와 세부 기준 협의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성과는 데이터 지표와 일정 준수율로 확인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A644DF-F8FE-5839-6496-D7CF0BF2A1EB}"/>
              </a:ext>
            </a:extLst>
          </p:cNvPr>
          <p:cNvSpPr txBox="1"/>
          <p:nvPr/>
        </p:nvSpPr>
        <p:spPr>
          <a:xfrm>
            <a:off x="273050" y="170118"/>
            <a:ext cx="6583680" cy="461665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핵심 과제 및 실행 대안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839E8-49E3-0FB7-5DA7-4AE26A787775}"/>
              </a:ext>
            </a:extLst>
          </p:cNvPr>
          <p:cNvSpPr txBox="1"/>
          <p:nvPr/>
        </p:nvSpPr>
        <p:spPr>
          <a:xfrm>
            <a:off x="280041" y="6647300"/>
            <a:ext cx="9350335" cy="215443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※ 본 자료는 스마트 제조 사업단 시연을 위해 생성한 가상 데이터이며 실제 사업정보가 아닙니다.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/>
              <a:cs typeface="Tahoma" panose="020B0604030504040204" pitchFamily="34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A8E42F2-0154-4A19-6D8A-89274E669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167333"/>
              </p:ext>
            </p:extLst>
          </p:nvPr>
        </p:nvGraphicFramePr>
        <p:xfrm>
          <a:off x="2649537" y="4733336"/>
          <a:ext cx="6875461" cy="761219"/>
        </p:xfrm>
        <a:graphic>
          <a:graphicData uri="http://schemas.openxmlformats.org/drawingml/2006/table">
            <a:tbl>
              <a:tblPr/>
              <a:tblGrid>
                <a:gridCol w="655638">
                  <a:extLst>
                    <a:ext uri="{9D8B030D-6E8A-4147-A177-3AD203B41FA5}">
                      <a16:colId xmlns:a16="http://schemas.microsoft.com/office/drawing/2014/main" val="3685127304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90954495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538179377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3305996028"/>
                    </a:ext>
                  </a:extLst>
                </a:gridCol>
                <a:gridCol w="790573">
                  <a:extLst>
                    <a:ext uri="{9D8B030D-6E8A-4147-A177-3AD203B41FA5}">
                      <a16:colId xmlns:a16="http://schemas.microsoft.com/office/drawing/2014/main" val="1821002234"/>
                    </a:ext>
                  </a:extLst>
                </a:gridCol>
              </a:tblGrid>
              <a:tr h="125245"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지원 적극성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Infra</a:t>
                      </a:r>
                      <a:endParaRPr kumimoji="1" lang="ko-KR" altLang="en-US" sz="1050" b="1" kern="0" baseline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수용성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07981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후보 A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공정 기반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높음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보유</a:t>
                      </a:r>
                      <a:endParaRPr lang="en-US" altLang="ko-KR" sz="1000" kern="1200" spc="0" baseline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높음</a:t>
                      </a:r>
                      <a:endParaRPr lang="en-US" altLang="ko-KR" sz="1000" kern="1200" spc="0" baseline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12203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후보 B</a:t>
                      </a:r>
                      <a:endParaRPr kumimoji="1" lang="en-US" altLang="ko-KR" sz="10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데이터 연계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중간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보유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중간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18108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후보 C</a:t>
                      </a:r>
                      <a:endParaRPr kumimoji="1" lang="en-US" altLang="ko-KR" sz="10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자동화 확장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검토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추가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조건부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963089"/>
                  </a:ext>
                </a:extLst>
              </a:tr>
            </a:tbl>
          </a:graphicData>
        </a:graphic>
      </p:graphicFrame>
      <p:sp>
        <p:nvSpPr>
          <p:cNvPr id="5" name="텍스트 개체 틀 17">
            <a:extLst>
              <a:ext uri="{FF2B5EF4-FFF2-40B4-BE49-F238E27FC236}">
                <a16:creationId xmlns:a16="http://schemas.microsoft.com/office/drawing/2014/main" id="{288F525E-67ED-8485-57C3-CD3EE06C5CE5}"/>
              </a:ext>
            </a:extLst>
          </p:cNvPr>
          <p:cNvSpPr txBox="1">
            <a:spLocks/>
          </p:cNvSpPr>
          <p:nvPr/>
        </p:nvSpPr>
        <p:spPr>
          <a:xfrm>
            <a:off x="2649539" y="4409182"/>
            <a:ext cx="6875462" cy="283365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Autofit/>
          </a:bodyPr>
          <a:lstStyle>
            <a:lvl1pPr marL="176213" indent="-176213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1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360363" indent="-184150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534988" indent="-174625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【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1" lang="ko-KR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표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】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E0D2058-0E6F-7C86-6F03-2DD784605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106868"/>
              </p:ext>
            </p:extLst>
          </p:nvPr>
        </p:nvGraphicFramePr>
        <p:xfrm>
          <a:off x="2649536" y="2297071"/>
          <a:ext cx="6875461" cy="1131928"/>
        </p:xfrm>
        <a:graphic>
          <a:graphicData uri="http://schemas.openxmlformats.org/drawingml/2006/table">
            <a:tbl>
              <a:tblPr/>
              <a:tblGrid>
                <a:gridCol w="1645373">
                  <a:extLst>
                    <a:ext uri="{9D8B030D-6E8A-4147-A177-3AD203B41FA5}">
                      <a16:colId xmlns:a16="http://schemas.microsoft.com/office/drawing/2014/main" val="3685127304"/>
                    </a:ext>
                  </a:extLst>
                </a:gridCol>
                <a:gridCol w="2096655">
                  <a:extLst>
                    <a:ext uri="{9D8B030D-6E8A-4147-A177-3AD203B41FA5}">
                      <a16:colId xmlns:a16="http://schemas.microsoft.com/office/drawing/2014/main" val="538179377"/>
                    </a:ext>
                  </a:extLst>
                </a:gridCol>
                <a:gridCol w="3133433">
                  <a:extLst>
                    <a:ext uri="{9D8B030D-6E8A-4147-A177-3AD203B41FA5}">
                      <a16:colId xmlns:a16="http://schemas.microsoft.com/office/drawing/2014/main" val="3305996028"/>
                    </a:ext>
                  </a:extLst>
                </a:gridCol>
              </a:tblGrid>
              <a:tr h="213706"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추진방안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07981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디지털 트윈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디지털 트윈 적용 범위 정의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SK하이닉스 주관 검토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12203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예지보전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예지보전 기술 조건 확인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SK실트론 공동 실증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18108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품질</a:t>
                      </a:r>
                      <a:endParaRPr kumimoji="1" lang="en-US" altLang="ko-KR" sz="1000" b="1" kern="0" baseline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품질 운영 기준 수립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사업단 통합 관리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963089"/>
                  </a:ext>
                </a:extLst>
              </a:tr>
            </a:tbl>
          </a:graphicData>
        </a:graphic>
      </p:graphicFrame>
      <p:sp>
        <p:nvSpPr>
          <p:cNvPr id="8" name="텍스트 개체 틀 17">
            <a:extLst>
              <a:ext uri="{FF2B5EF4-FFF2-40B4-BE49-F238E27FC236}">
                <a16:creationId xmlns:a16="http://schemas.microsoft.com/office/drawing/2014/main" id="{036726C2-0E9C-02F8-8FD5-622C5B317661}"/>
              </a:ext>
            </a:extLst>
          </p:cNvPr>
          <p:cNvSpPr txBox="1">
            <a:spLocks/>
          </p:cNvSpPr>
          <p:nvPr/>
        </p:nvSpPr>
        <p:spPr>
          <a:xfrm>
            <a:off x="2649539" y="1963685"/>
            <a:ext cx="6875462" cy="283365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Autofit/>
          </a:bodyPr>
          <a:lstStyle>
            <a:lvl1pPr marL="176213" indent="-176213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1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360363" indent="-184150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534988" indent="-174625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【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1" lang="ko-KR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표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】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>
          <a:extLst>
            <a:ext uri="{FF2B5EF4-FFF2-40B4-BE49-F238E27FC236}">
              <a16:creationId xmlns:a16="http://schemas.microsoft.com/office/drawing/2014/main" id="{F3DD9458-6313-B51C-866A-47B563CF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0FF554-4351-B6AB-376A-35C4303A02DA}"/>
              </a:ext>
            </a:extLst>
          </p:cNvPr>
          <p:cNvSpPr/>
          <p:nvPr/>
        </p:nvSpPr>
        <p:spPr>
          <a:xfrm>
            <a:off x="272480" y="944562"/>
            <a:ext cx="1391281" cy="5653086"/>
          </a:xfrm>
          <a:prstGeom prst="rect">
            <a:avLst/>
          </a:prstGeom>
          <a:noFill/>
        </p:spPr>
        <p:txBody>
          <a:bodyPr wrap="none" anchor="ctr" anchorCtr="0">
            <a:noAutofit/>
          </a:bodyPr>
          <a:lstStyle/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SMART
FACTORY</a:t>
            </a: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2C0E2E5F-5851-8A41-2CC5-F18557058D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8938" y="1097366"/>
            <a:ext cx="7965133" cy="5500282"/>
          </a:xfrm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AI 기반 자율제조 운영체계 구축</a:t>
            </a:r>
          </a:p>
          <a:p>
            <a:pPr lvl="1" algn="l"/>
            <a:r>
              <a:rPr sz="13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Phase 1 · 솔루션 구성과 적용 범위</a:t>
            </a:r>
          </a:p>
          <a:p>
            <a:pPr lvl="2" algn="l"/>
            <a:r>
              <a:rPr sz="12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실행 방향</a:t>
            </a:r>
          </a:p>
          <a:p>
            <a:pPr lvl="3" algn="l"/>
            <a:r>
              <a:rPr sz="11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공정 중심의 실행 범위와 담당 조직을 구체화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설비 파트너와 세부 기준 협의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성과는 자동화 지표와 일정 준수율로 확인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02D2E7-813E-6E99-58D0-8D2BEB2455D8}"/>
              </a:ext>
            </a:extLst>
          </p:cNvPr>
          <p:cNvSpPr txBox="1"/>
          <p:nvPr/>
        </p:nvSpPr>
        <p:spPr>
          <a:xfrm>
            <a:off x="273050" y="170118"/>
            <a:ext cx="6583680" cy="461665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솔루션 구성과 적용 범위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C7791A-BA6A-2957-973C-EA800BD9C0F1}"/>
              </a:ext>
            </a:extLst>
          </p:cNvPr>
          <p:cNvSpPr txBox="1"/>
          <p:nvPr/>
        </p:nvSpPr>
        <p:spPr>
          <a:xfrm>
            <a:off x="280041" y="6647300"/>
            <a:ext cx="9350335" cy="215443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※ 본 자료는 스마트 제조 사업단 시연을 위해 생성한 가상 데이터이며 실제 사업정보가 아닙니다.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>
          <a:extLst>
            <a:ext uri="{FF2B5EF4-FFF2-40B4-BE49-F238E27FC236}">
              <a16:creationId xmlns:a16="http://schemas.microsoft.com/office/drawing/2014/main" id="{A8EA50D1-18E7-178C-9D2A-B4E4C652B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4BAA677-C132-8B73-027B-6C9DB766669C}"/>
              </a:ext>
            </a:extLst>
          </p:cNvPr>
          <p:cNvSpPr/>
          <p:nvPr/>
        </p:nvSpPr>
        <p:spPr>
          <a:xfrm>
            <a:off x="272480" y="944562"/>
            <a:ext cx="1391281" cy="5653086"/>
          </a:xfrm>
          <a:prstGeom prst="rect">
            <a:avLst/>
          </a:prstGeom>
          <a:noFill/>
        </p:spPr>
        <p:txBody>
          <a:bodyPr wrap="none" anchor="ctr" anchorCtr="0">
            <a:noAutofit/>
          </a:bodyPr>
          <a:lstStyle/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SMART
FACTORY</a:t>
            </a: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A6769721-62EF-F654-B5D9-FDF5037B04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8938" y="1097366"/>
            <a:ext cx="7965133" cy="5500282"/>
          </a:xfrm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AI 기반 자율제조 운영체계 구축</a:t>
            </a:r>
          </a:p>
          <a:p>
            <a:pPr lvl="1" algn="l"/>
            <a:r>
              <a:rPr sz="13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Phase 1 · 이해관계자 및 협의 현황</a:t>
            </a:r>
          </a:p>
          <a:p>
            <a:pPr lvl="2" algn="l"/>
            <a:r>
              <a:rPr sz="12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추진 내용</a:t>
            </a:r>
          </a:p>
          <a:p>
            <a:pPr lvl="3" algn="l"/>
            <a:r>
              <a:rPr sz="11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데이터 중심의 실행 범위와 담당 조직을 구체화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SK하이닉스와 세부 기준 협의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성과는 디지털 트윈 지표와 일정 준수율로 확인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A644DF-F8FE-5839-6496-D7CF0BF2A1EB}"/>
              </a:ext>
            </a:extLst>
          </p:cNvPr>
          <p:cNvSpPr txBox="1"/>
          <p:nvPr/>
        </p:nvSpPr>
        <p:spPr>
          <a:xfrm>
            <a:off x="273050" y="170118"/>
            <a:ext cx="6583680" cy="461665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이해관계자 및 협의 현황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839E8-49E3-0FB7-5DA7-4AE26A787775}"/>
              </a:ext>
            </a:extLst>
          </p:cNvPr>
          <p:cNvSpPr txBox="1"/>
          <p:nvPr/>
        </p:nvSpPr>
        <p:spPr>
          <a:xfrm>
            <a:off x="280041" y="6647300"/>
            <a:ext cx="9350335" cy="215443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※ 본 자료는 스마트 제조 사업단 시연을 위해 생성한 가상 데이터이며 실제 사업정보가 아닙니다.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/>
              <a:cs typeface="Tahoma" panose="020B0604030504040204" pitchFamily="34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A8E42F2-0154-4A19-6D8A-89274E669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167333"/>
              </p:ext>
            </p:extLst>
          </p:nvPr>
        </p:nvGraphicFramePr>
        <p:xfrm>
          <a:off x="2649537" y="4733336"/>
          <a:ext cx="6875461" cy="761219"/>
        </p:xfrm>
        <a:graphic>
          <a:graphicData uri="http://schemas.openxmlformats.org/drawingml/2006/table">
            <a:tbl>
              <a:tblPr/>
              <a:tblGrid>
                <a:gridCol w="655638">
                  <a:extLst>
                    <a:ext uri="{9D8B030D-6E8A-4147-A177-3AD203B41FA5}">
                      <a16:colId xmlns:a16="http://schemas.microsoft.com/office/drawing/2014/main" val="3685127304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90954495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538179377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3305996028"/>
                    </a:ext>
                  </a:extLst>
                </a:gridCol>
                <a:gridCol w="790573">
                  <a:extLst>
                    <a:ext uri="{9D8B030D-6E8A-4147-A177-3AD203B41FA5}">
                      <a16:colId xmlns:a16="http://schemas.microsoft.com/office/drawing/2014/main" val="1821002234"/>
                    </a:ext>
                  </a:extLst>
                </a:gridCol>
              </a:tblGrid>
              <a:tr h="125245"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지원 적극성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Infra</a:t>
                      </a:r>
                      <a:endParaRPr kumimoji="1" lang="ko-KR" altLang="en-US" sz="1050" b="1" kern="0" baseline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수용성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07981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후보 A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공정 기반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높음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보유</a:t>
                      </a:r>
                      <a:endParaRPr lang="en-US" altLang="ko-KR" sz="1000" kern="1200" spc="0" baseline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높음</a:t>
                      </a:r>
                      <a:endParaRPr lang="en-US" altLang="ko-KR" sz="1000" kern="1200" spc="0" baseline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12203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후보 B</a:t>
                      </a:r>
                      <a:endParaRPr kumimoji="1" lang="en-US" altLang="ko-KR" sz="10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데이터 연계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중간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보유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중간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18108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후보 C</a:t>
                      </a:r>
                      <a:endParaRPr kumimoji="1" lang="en-US" altLang="ko-KR" sz="10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자동화 확장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검토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추가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조건부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963089"/>
                  </a:ext>
                </a:extLst>
              </a:tr>
            </a:tbl>
          </a:graphicData>
        </a:graphic>
      </p:graphicFrame>
      <p:sp>
        <p:nvSpPr>
          <p:cNvPr id="5" name="텍스트 개체 틀 17">
            <a:extLst>
              <a:ext uri="{FF2B5EF4-FFF2-40B4-BE49-F238E27FC236}">
                <a16:creationId xmlns:a16="http://schemas.microsoft.com/office/drawing/2014/main" id="{288F525E-67ED-8485-57C3-CD3EE06C5CE5}"/>
              </a:ext>
            </a:extLst>
          </p:cNvPr>
          <p:cNvSpPr txBox="1">
            <a:spLocks/>
          </p:cNvSpPr>
          <p:nvPr/>
        </p:nvSpPr>
        <p:spPr>
          <a:xfrm>
            <a:off x="2649539" y="4409182"/>
            <a:ext cx="6875462" cy="283365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Autofit/>
          </a:bodyPr>
          <a:lstStyle>
            <a:lvl1pPr marL="176213" indent="-176213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1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360363" indent="-184150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534988" indent="-174625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【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1" lang="ko-KR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표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】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E0D2058-0E6F-7C86-6F03-2DD784605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106868"/>
              </p:ext>
            </p:extLst>
          </p:nvPr>
        </p:nvGraphicFramePr>
        <p:xfrm>
          <a:off x="2649536" y="2297071"/>
          <a:ext cx="6875461" cy="1131928"/>
        </p:xfrm>
        <a:graphic>
          <a:graphicData uri="http://schemas.openxmlformats.org/drawingml/2006/table">
            <a:tbl>
              <a:tblPr/>
              <a:tblGrid>
                <a:gridCol w="1645373">
                  <a:extLst>
                    <a:ext uri="{9D8B030D-6E8A-4147-A177-3AD203B41FA5}">
                      <a16:colId xmlns:a16="http://schemas.microsoft.com/office/drawing/2014/main" val="3685127304"/>
                    </a:ext>
                  </a:extLst>
                </a:gridCol>
                <a:gridCol w="2096655">
                  <a:extLst>
                    <a:ext uri="{9D8B030D-6E8A-4147-A177-3AD203B41FA5}">
                      <a16:colId xmlns:a16="http://schemas.microsoft.com/office/drawing/2014/main" val="538179377"/>
                    </a:ext>
                  </a:extLst>
                </a:gridCol>
                <a:gridCol w="3133433">
                  <a:extLst>
                    <a:ext uri="{9D8B030D-6E8A-4147-A177-3AD203B41FA5}">
                      <a16:colId xmlns:a16="http://schemas.microsoft.com/office/drawing/2014/main" val="3305996028"/>
                    </a:ext>
                  </a:extLst>
                </a:gridCol>
              </a:tblGrid>
              <a:tr h="213706"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추진방안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07981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디지털 트윈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디지털 트윈 적용 범위 정의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SK하이닉스 주관 검토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12203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예지보전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예지보전 기술 조건 확인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SK실트론 공동 실증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18108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품질</a:t>
                      </a:r>
                      <a:endParaRPr kumimoji="1" lang="en-US" altLang="ko-KR" sz="1000" b="1" kern="0" baseline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품질 운영 기준 수립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사업단 통합 관리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963089"/>
                  </a:ext>
                </a:extLst>
              </a:tr>
            </a:tbl>
          </a:graphicData>
        </a:graphic>
      </p:graphicFrame>
      <p:sp>
        <p:nvSpPr>
          <p:cNvPr id="8" name="텍스트 개체 틀 17">
            <a:extLst>
              <a:ext uri="{FF2B5EF4-FFF2-40B4-BE49-F238E27FC236}">
                <a16:creationId xmlns:a16="http://schemas.microsoft.com/office/drawing/2014/main" id="{036726C2-0E9C-02F8-8FD5-622C5B317661}"/>
              </a:ext>
            </a:extLst>
          </p:cNvPr>
          <p:cNvSpPr txBox="1">
            <a:spLocks/>
          </p:cNvSpPr>
          <p:nvPr/>
        </p:nvSpPr>
        <p:spPr>
          <a:xfrm>
            <a:off x="2649539" y="1963685"/>
            <a:ext cx="6875462" cy="283365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Autofit/>
          </a:bodyPr>
          <a:lstStyle>
            <a:lvl1pPr marL="176213" indent="-176213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1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360363" indent="-184150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534988" indent="-174625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【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1" lang="ko-KR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표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】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>
          <a:extLst>
            <a:ext uri="{FF2B5EF4-FFF2-40B4-BE49-F238E27FC236}">
              <a16:creationId xmlns:a16="http://schemas.microsoft.com/office/drawing/2014/main" id="{F3DD9458-6313-B51C-866A-47B563CF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0FF554-4351-B6AB-376A-35C4303A02DA}"/>
              </a:ext>
            </a:extLst>
          </p:cNvPr>
          <p:cNvSpPr/>
          <p:nvPr/>
        </p:nvSpPr>
        <p:spPr>
          <a:xfrm>
            <a:off x="272480" y="944562"/>
            <a:ext cx="1391281" cy="5653086"/>
          </a:xfrm>
          <a:prstGeom prst="rect">
            <a:avLst/>
          </a:prstGeom>
          <a:noFill/>
        </p:spPr>
        <p:txBody>
          <a:bodyPr wrap="none" anchor="ctr" anchorCtr="0">
            <a:noAutofit/>
          </a:bodyPr>
          <a:lstStyle/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SMART
FACTORY</a:t>
            </a: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2C0E2E5F-5851-8A41-2CC5-F18557058D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8938" y="1097366"/>
            <a:ext cx="7965133" cy="5500282"/>
          </a:xfrm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AI 기반 자율제조 운영체계 구축</a:t>
            </a:r>
          </a:p>
          <a:p>
            <a:pPr lvl="1" algn="l"/>
            <a:r>
              <a:rPr sz="13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Phase 1 · 투자·예산 운영 원칙</a:t>
            </a:r>
          </a:p>
          <a:p>
            <a:pPr lvl="2" algn="l"/>
            <a:r>
              <a:rPr sz="12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검토 결과</a:t>
            </a:r>
          </a:p>
          <a:p>
            <a:pPr lvl="3" algn="l"/>
            <a:r>
              <a:rPr sz="11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자동화 중심의 실행 범위와 담당 조직을 구체화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SK실트론와 세부 기준 협의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성과는 예지보전 지표와 일정 준수율로 확인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02D2E7-813E-6E99-58D0-8D2BEB2455D8}"/>
              </a:ext>
            </a:extLst>
          </p:cNvPr>
          <p:cNvSpPr txBox="1"/>
          <p:nvPr/>
        </p:nvSpPr>
        <p:spPr>
          <a:xfrm>
            <a:off x="273050" y="170118"/>
            <a:ext cx="6583680" cy="461665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투자·예산 운영 원칙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C7791A-BA6A-2957-973C-EA800BD9C0F1}"/>
              </a:ext>
            </a:extLst>
          </p:cNvPr>
          <p:cNvSpPr txBox="1"/>
          <p:nvPr/>
        </p:nvSpPr>
        <p:spPr>
          <a:xfrm>
            <a:off x="280041" y="6647300"/>
            <a:ext cx="9350335" cy="215443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※ 본 자료는 스마트 제조 사업단 시연을 위해 생성한 가상 데이터이며 실제 사업정보가 아닙니다.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>
          <a:extLst>
            <a:ext uri="{FF2B5EF4-FFF2-40B4-BE49-F238E27FC236}">
              <a16:creationId xmlns:a16="http://schemas.microsoft.com/office/drawing/2014/main" id="{0C832D66-FFB1-83CF-F984-0F2FBA3FB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B414C624-F1F1-F45E-6306-DC6CC262BB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8938" y="1097366"/>
            <a:ext cx="7965133" cy="5500282"/>
          </a:xfrm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AI 기반 자율제조 운영체계 구축</a:t>
            </a:r>
            <a:endParaRPr lang="en-US" altLang="ko-KR" dirty="0">
              <a:solidFill>
                <a:schemeClr val="tx1"/>
              </a:solidFill>
            </a:endParaRPr>
          </a:p>
          <a:p>
            <a:pPr lvl="1" algn="l"/>
            <a:r>
              <a:rPr sz="13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Phase 1 · 1단계 추진 일정</a:t>
            </a:r>
          </a:p>
          <a:p>
            <a:pPr lvl="2" algn="l"/>
            <a:r>
              <a:rPr sz="12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협의 사항</a:t>
            </a:r>
          </a:p>
          <a:p>
            <a:pPr lvl="3" algn="l"/>
            <a:r>
              <a:rPr sz="11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디지털 트윈 중심의 실행 범위와 담당 조직을 구체화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SK C&amp;C와 세부 기준 협의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성과는 품질 지표와 일정 준수율로 확인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E0CA606-66CD-58FC-CA82-FDE3237D8150}"/>
              </a:ext>
            </a:extLst>
          </p:cNvPr>
          <p:cNvSpPr/>
          <p:nvPr/>
        </p:nvSpPr>
        <p:spPr>
          <a:xfrm>
            <a:off x="272480" y="944562"/>
            <a:ext cx="1391281" cy="5653086"/>
          </a:xfrm>
          <a:prstGeom prst="rect">
            <a:avLst/>
          </a:prstGeom>
          <a:noFill/>
        </p:spPr>
        <p:txBody>
          <a:bodyPr wrap="none" anchor="ctr" anchorCtr="0">
            <a:noAutofit/>
          </a:bodyPr>
          <a:lstStyle/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SMART
FACTORY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8202E5-9A81-C175-C494-86ACBC462496}"/>
              </a:ext>
            </a:extLst>
          </p:cNvPr>
          <p:cNvSpPr txBox="1"/>
          <p:nvPr/>
        </p:nvSpPr>
        <p:spPr>
          <a:xfrm>
            <a:off x="273050" y="170118"/>
            <a:ext cx="6583680" cy="461665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1단계 추진 일정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19A85A1-9CBD-A823-F744-50FBC627E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041155"/>
              </p:ext>
            </p:extLst>
          </p:nvPr>
        </p:nvGraphicFramePr>
        <p:xfrm>
          <a:off x="2649538" y="3244741"/>
          <a:ext cx="6875462" cy="2123640"/>
        </p:xfrm>
        <a:graphic>
          <a:graphicData uri="http://schemas.openxmlformats.org/drawingml/2006/table">
            <a:tbl>
              <a:tblPr/>
              <a:tblGrid>
                <a:gridCol w="909450">
                  <a:extLst>
                    <a:ext uri="{9D8B030D-6E8A-4147-A177-3AD203B41FA5}">
                      <a16:colId xmlns:a16="http://schemas.microsoft.com/office/drawing/2014/main" val="3685127304"/>
                    </a:ext>
                  </a:extLst>
                </a:gridCol>
                <a:gridCol w="5966012">
                  <a:extLst>
                    <a:ext uri="{9D8B030D-6E8A-4147-A177-3AD203B41FA5}">
                      <a16:colId xmlns:a16="http://schemas.microsoft.com/office/drawing/2014/main" val="909544951"/>
                    </a:ext>
                  </a:extLst>
                </a:gridCol>
              </a:tblGrid>
              <a:tr h="202910"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구분</a:t>
                      </a:r>
                    </a:p>
                  </a:txBody>
                  <a:tcPr marL="0" marR="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협의 경과</a:t>
                      </a: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07981"/>
                  </a:ext>
                </a:extLst>
              </a:tr>
              <a:tr h="362845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SK하이닉스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디지털 트윈 범위 및 프로젝트 목표 협의</a:t>
                      </a:r>
                      <a:endParaRPr lang="en-US" altLang="ko-KR" sz="1000" b="0" u="none" kern="1200" spc="0" baseline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Tahoma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12203"/>
                  </a:ext>
                </a:extLst>
              </a:tr>
              <a:tr h="362845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SK실트론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예지보전 기술조건과 운영방안 검토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18108"/>
                  </a:ext>
                </a:extLst>
              </a:tr>
              <a:tr h="529443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SK C&amp;C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품질 인프라 및 비용 구조 검토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77960"/>
                  </a:ext>
                </a:extLst>
              </a:tr>
              <a:tr h="196246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설비 파트너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공정 관련 협력 가능성 확인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963089"/>
                  </a:ext>
                </a:extLst>
              </a:tr>
              <a:tr h="202910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사업단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단계별 의사결정 자료 통합</a:t>
                      </a:r>
                      <a:endParaRPr lang="en-US" altLang="ko-KR" sz="1000" kern="1200" spc="0" baseline="3000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17260"/>
                  </a:ext>
                </a:extLst>
              </a:tr>
            </a:tbl>
          </a:graphicData>
        </a:graphic>
      </p:graphicFrame>
      <p:sp>
        <p:nvSpPr>
          <p:cNvPr id="5" name="텍스트 개체 틀 17">
            <a:extLst>
              <a:ext uri="{FF2B5EF4-FFF2-40B4-BE49-F238E27FC236}">
                <a16:creationId xmlns:a16="http://schemas.microsoft.com/office/drawing/2014/main" id="{9B94B0CC-2598-8646-C878-CF268875FDF5}"/>
              </a:ext>
            </a:extLst>
          </p:cNvPr>
          <p:cNvSpPr txBox="1">
            <a:spLocks/>
          </p:cNvSpPr>
          <p:nvPr/>
        </p:nvSpPr>
        <p:spPr>
          <a:xfrm>
            <a:off x="2649539" y="2908803"/>
            <a:ext cx="6875462" cy="283365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Autofit/>
          </a:bodyPr>
          <a:lstStyle>
            <a:lvl1pPr marL="176213" indent="-176213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1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360363" indent="-184150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534988" indent="-174625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【</a:t>
            </a:r>
            <a:r>
              <a: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lang="ko-KR" altLang="en-US" kern="0" dirty="0">
                <a:solidFill>
                  <a:prstClr val="black"/>
                </a:solidFill>
                <a:latin typeface="Corbel" panose="020B0503020204020204" pitchFamily="34" charset="0"/>
                <a:ea typeface="나눔스퀘어" panose="020B0600000101010101" pitchFamily="50" charset="-127"/>
              </a:rPr>
              <a:t>표</a:t>
            </a:r>
            <a:r>
              <a: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】</a:t>
            </a:r>
            <a:r>
              <a: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041" y="6647300"/>
            <a:ext cx="9350335" cy="2154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※ 본 자료는 스마트 제조 사업단 시연을 위해 생성한 가상 데이터이며 실제 사업정보가 아닙니다.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6149888"/>
            <a:ext cx="6793992" cy="50292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9354312" y="6099596"/>
            <a:ext cx="146304" cy="146304"/>
          </a:xfrm>
          <a:prstGeom prst="triangle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0" y="5715000"/>
            <a:ext cx="2011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Project 진행 일정(案)</a:t>
            </a:r>
          </a:p>
        </p:txBody>
      </p:sp>
      <p:sp>
        <p:nvSpPr>
          <p:cNvPr id="31" name="Oval 30"/>
          <p:cNvSpPr/>
          <p:nvPr/>
        </p:nvSpPr>
        <p:spPr>
          <a:xfrm>
            <a:off x="3159252" y="6113312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0" y="5924946"/>
            <a:ext cx="7680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'26.4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79776" y="6254861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Kick-off</a:t>
            </a:r>
          </a:p>
        </p:txBody>
      </p:sp>
      <p:sp>
        <p:nvSpPr>
          <p:cNvPr id="34" name="Oval 33"/>
          <p:cNvSpPr/>
          <p:nvPr/>
        </p:nvSpPr>
        <p:spPr>
          <a:xfrm>
            <a:off x="4342485" y="6113312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17873" y="5924946"/>
            <a:ext cx="7680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'26.5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63009" y="6254861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요건정의</a:t>
            </a:r>
          </a:p>
        </p:txBody>
      </p:sp>
      <p:sp>
        <p:nvSpPr>
          <p:cNvPr id="37" name="Oval 36"/>
          <p:cNvSpPr/>
          <p:nvPr/>
        </p:nvSpPr>
        <p:spPr>
          <a:xfrm>
            <a:off x="5525719" y="6113312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01107" y="5924946"/>
            <a:ext cx="7680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'26.6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46243" y="6254861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대안검토</a:t>
            </a:r>
          </a:p>
        </p:txBody>
      </p:sp>
      <p:sp>
        <p:nvSpPr>
          <p:cNvPr id="40" name="Oval 39"/>
          <p:cNvSpPr/>
          <p:nvPr/>
        </p:nvSpPr>
        <p:spPr>
          <a:xfrm>
            <a:off x="6708952" y="6113312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4340" y="5924946"/>
            <a:ext cx="7680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'26.8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9476" y="6254861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실증</a:t>
            </a:r>
          </a:p>
        </p:txBody>
      </p:sp>
      <p:sp>
        <p:nvSpPr>
          <p:cNvPr id="43" name="Oval 42"/>
          <p:cNvSpPr/>
          <p:nvPr/>
        </p:nvSpPr>
        <p:spPr>
          <a:xfrm>
            <a:off x="7892186" y="6113312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67574" y="5924946"/>
            <a:ext cx="7680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'26.10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12710" y="6254861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CEO보고</a:t>
            </a:r>
          </a:p>
        </p:txBody>
      </p:sp>
      <p:sp>
        <p:nvSpPr>
          <p:cNvPr id="46" name="Oval 45"/>
          <p:cNvSpPr/>
          <p:nvPr/>
        </p:nvSpPr>
        <p:spPr>
          <a:xfrm>
            <a:off x="9075420" y="6113312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50808" y="5924946"/>
            <a:ext cx="7680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'27.Q1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95944" y="6254861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확대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>
          <a:extLst>
            <a:ext uri="{FF2B5EF4-FFF2-40B4-BE49-F238E27FC236}">
              <a16:creationId xmlns:a16="http://schemas.microsoft.com/office/drawing/2014/main" id="{A8EA50D1-18E7-178C-9D2A-B4E4C652B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4BAA677-C132-8B73-027B-6C9DB766669C}"/>
              </a:ext>
            </a:extLst>
          </p:cNvPr>
          <p:cNvSpPr/>
          <p:nvPr/>
        </p:nvSpPr>
        <p:spPr>
          <a:xfrm>
            <a:off x="272480" y="944562"/>
            <a:ext cx="1391281" cy="5653086"/>
          </a:xfrm>
          <a:prstGeom prst="rect">
            <a:avLst/>
          </a:prstGeom>
          <a:noFill/>
        </p:spPr>
        <p:txBody>
          <a:bodyPr wrap="none" anchor="ctr" anchorCtr="0">
            <a:noAutofit/>
          </a:bodyPr>
          <a:lstStyle/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SMART
FACTORY</a:t>
            </a: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A6769721-62EF-F654-B5D9-FDF5037B04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8938" y="1097366"/>
            <a:ext cx="7965133" cy="5500282"/>
          </a:xfrm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AI 기반 자율제조 운영체계 구축</a:t>
            </a:r>
          </a:p>
          <a:p>
            <a:pPr lvl="1" algn="l"/>
            <a:r>
              <a:rPr sz="13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Phase 1 · 주요 리스크 및 대응 방안</a:t>
            </a:r>
          </a:p>
          <a:p>
            <a:pPr lvl="2" algn="l"/>
            <a:r>
              <a:rPr sz="12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핵심 판단</a:t>
            </a:r>
          </a:p>
          <a:p>
            <a:pPr lvl="3" algn="l"/>
            <a:r>
              <a:rPr sz="11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예지보전 중심의 실행 범위와 담당 조직을 구체화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설비 파트너와 세부 기준 협의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성과는 공정 지표와 일정 준수율로 확인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A644DF-F8FE-5839-6496-D7CF0BF2A1EB}"/>
              </a:ext>
            </a:extLst>
          </p:cNvPr>
          <p:cNvSpPr txBox="1"/>
          <p:nvPr/>
        </p:nvSpPr>
        <p:spPr>
          <a:xfrm>
            <a:off x="273050" y="170118"/>
            <a:ext cx="6583680" cy="461665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주요 리스크 및 대응 방안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839E8-49E3-0FB7-5DA7-4AE26A787775}"/>
              </a:ext>
            </a:extLst>
          </p:cNvPr>
          <p:cNvSpPr txBox="1"/>
          <p:nvPr/>
        </p:nvSpPr>
        <p:spPr>
          <a:xfrm>
            <a:off x="280041" y="6647300"/>
            <a:ext cx="9350335" cy="215443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※ 본 자료는 스마트 제조 사업단 시연을 위해 생성한 가상 데이터이며 실제 사업정보가 아닙니다.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/>
              <a:cs typeface="Tahoma" panose="020B0604030504040204" pitchFamily="34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A8E42F2-0154-4A19-6D8A-89274E669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167333"/>
              </p:ext>
            </p:extLst>
          </p:nvPr>
        </p:nvGraphicFramePr>
        <p:xfrm>
          <a:off x="2649537" y="4733336"/>
          <a:ext cx="6875461" cy="761219"/>
        </p:xfrm>
        <a:graphic>
          <a:graphicData uri="http://schemas.openxmlformats.org/drawingml/2006/table">
            <a:tbl>
              <a:tblPr/>
              <a:tblGrid>
                <a:gridCol w="655638">
                  <a:extLst>
                    <a:ext uri="{9D8B030D-6E8A-4147-A177-3AD203B41FA5}">
                      <a16:colId xmlns:a16="http://schemas.microsoft.com/office/drawing/2014/main" val="3685127304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90954495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538179377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3305996028"/>
                    </a:ext>
                  </a:extLst>
                </a:gridCol>
                <a:gridCol w="790573">
                  <a:extLst>
                    <a:ext uri="{9D8B030D-6E8A-4147-A177-3AD203B41FA5}">
                      <a16:colId xmlns:a16="http://schemas.microsoft.com/office/drawing/2014/main" val="1821002234"/>
                    </a:ext>
                  </a:extLst>
                </a:gridCol>
              </a:tblGrid>
              <a:tr h="125245"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지원 적극성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Infra</a:t>
                      </a:r>
                      <a:endParaRPr kumimoji="1" lang="ko-KR" altLang="en-US" sz="1050" b="1" kern="0" baseline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수용성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07981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후보 A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공정 기반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높음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보유</a:t>
                      </a:r>
                      <a:endParaRPr lang="en-US" altLang="ko-KR" sz="1000" kern="1200" spc="0" baseline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높음</a:t>
                      </a:r>
                      <a:endParaRPr lang="en-US" altLang="ko-KR" sz="1000" kern="1200" spc="0" baseline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12203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후보 B</a:t>
                      </a:r>
                      <a:endParaRPr kumimoji="1" lang="en-US" altLang="ko-KR" sz="10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데이터 연계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중간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보유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중간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18108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후보 C</a:t>
                      </a:r>
                      <a:endParaRPr kumimoji="1" lang="en-US" altLang="ko-KR" sz="10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자동화 확장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검토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추가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조건부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963089"/>
                  </a:ext>
                </a:extLst>
              </a:tr>
            </a:tbl>
          </a:graphicData>
        </a:graphic>
      </p:graphicFrame>
      <p:sp>
        <p:nvSpPr>
          <p:cNvPr id="5" name="텍스트 개체 틀 17">
            <a:extLst>
              <a:ext uri="{FF2B5EF4-FFF2-40B4-BE49-F238E27FC236}">
                <a16:creationId xmlns:a16="http://schemas.microsoft.com/office/drawing/2014/main" id="{288F525E-67ED-8485-57C3-CD3EE06C5CE5}"/>
              </a:ext>
            </a:extLst>
          </p:cNvPr>
          <p:cNvSpPr txBox="1">
            <a:spLocks/>
          </p:cNvSpPr>
          <p:nvPr/>
        </p:nvSpPr>
        <p:spPr>
          <a:xfrm>
            <a:off x="2649539" y="4409182"/>
            <a:ext cx="6875462" cy="283365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Autofit/>
          </a:bodyPr>
          <a:lstStyle>
            <a:lvl1pPr marL="176213" indent="-176213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1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360363" indent="-184150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534988" indent="-174625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【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1" lang="ko-KR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표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】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E0D2058-0E6F-7C86-6F03-2DD784605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106868"/>
              </p:ext>
            </p:extLst>
          </p:nvPr>
        </p:nvGraphicFramePr>
        <p:xfrm>
          <a:off x="2649536" y="2297071"/>
          <a:ext cx="6875461" cy="1131928"/>
        </p:xfrm>
        <a:graphic>
          <a:graphicData uri="http://schemas.openxmlformats.org/drawingml/2006/table">
            <a:tbl>
              <a:tblPr/>
              <a:tblGrid>
                <a:gridCol w="1645373">
                  <a:extLst>
                    <a:ext uri="{9D8B030D-6E8A-4147-A177-3AD203B41FA5}">
                      <a16:colId xmlns:a16="http://schemas.microsoft.com/office/drawing/2014/main" val="3685127304"/>
                    </a:ext>
                  </a:extLst>
                </a:gridCol>
                <a:gridCol w="2096655">
                  <a:extLst>
                    <a:ext uri="{9D8B030D-6E8A-4147-A177-3AD203B41FA5}">
                      <a16:colId xmlns:a16="http://schemas.microsoft.com/office/drawing/2014/main" val="538179377"/>
                    </a:ext>
                  </a:extLst>
                </a:gridCol>
                <a:gridCol w="3133433">
                  <a:extLst>
                    <a:ext uri="{9D8B030D-6E8A-4147-A177-3AD203B41FA5}">
                      <a16:colId xmlns:a16="http://schemas.microsoft.com/office/drawing/2014/main" val="3305996028"/>
                    </a:ext>
                  </a:extLst>
                </a:gridCol>
              </a:tblGrid>
              <a:tr h="213706"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추진방안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07981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디지털 트윈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디지털 트윈 적용 범위 정의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SK하이닉스 주관 검토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12203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예지보전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예지보전 기술 조건 확인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SK실트론 공동 실증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18108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품질</a:t>
                      </a:r>
                      <a:endParaRPr kumimoji="1" lang="en-US" altLang="ko-KR" sz="1000" b="1" kern="0" baseline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품질 운영 기준 수립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사업단 통합 관리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963089"/>
                  </a:ext>
                </a:extLst>
              </a:tr>
            </a:tbl>
          </a:graphicData>
        </a:graphic>
      </p:graphicFrame>
      <p:sp>
        <p:nvSpPr>
          <p:cNvPr id="8" name="텍스트 개체 틀 17">
            <a:extLst>
              <a:ext uri="{FF2B5EF4-FFF2-40B4-BE49-F238E27FC236}">
                <a16:creationId xmlns:a16="http://schemas.microsoft.com/office/drawing/2014/main" id="{036726C2-0E9C-02F8-8FD5-622C5B317661}"/>
              </a:ext>
            </a:extLst>
          </p:cNvPr>
          <p:cNvSpPr txBox="1">
            <a:spLocks/>
          </p:cNvSpPr>
          <p:nvPr/>
        </p:nvSpPr>
        <p:spPr>
          <a:xfrm>
            <a:off x="2649539" y="1963685"/>
            <a:ext cx="6875462" cy="283365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Autofit/>
          </a:bodyPr>
          <a:lstStyle>
            <a:lvl1pPr marL="176213" indent="-176213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1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360363" indent="-184150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534988" indent="-174625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【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1" lang="ko-KR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표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】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>
          <a:extLst>
            <a:ext uri="{FF2B5EF4-FFF2-40B4-BE49-F238E27FC236}">
              <a16:creationId xmlns:a16="http://schemas.microsoft.com/office/drawing/2014/main" id="{F3DD9458-6313-B51C-866A-47B563CF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0FF554-4351-B6AB-376A-35C4303A02DA}"/>
              </a:ext>
            </a:extLst>
          </p:cNvPr>
          <p:cNvSpPr/>
          <p:nvPr/>
        </p:nvSpPr>
        <p:spPr>
          <a:xfrm>
            <a:off x="272480" y="944562"/>
            <a:ext cx="1391281" cy="5653086"/>
          </a:xfrm>
          <a:prstGeom prst="rect">
            <a:avLst/>
          </a:prstGeom>
          <a:noFill/>
        </p:spPr>
        <p:txBody>
          <a:bodyPr wrap="none" anchor="ctr" anchorCtr="0">
            <a:noAutofit/>
          </a:bodyPr>
          <a:lstStyle/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SMART
FACTORY</a:t>
            </a: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2C0E2E5F-5851-8A41-2CC5-F18557058D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8938" y="1097366"/>
            <a:ext cx="7965133" cy="5500282"/>
          </a:xfrm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AI 기반 자율제조 운영체계 구축</a:t>
            </a:r>
          </a:p>
          <a:p>
            <a:pPr lvl="1" algn="l"/>
            <a:r>
              <a:rPr sz="13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Phase 1 · 성과지표 및 목표 수준</a:t>
            </a:r>
          </a:p>
          <a:p>
            <a:pPr lvl="2" algn="l"/>
            <a:r>
              <a:rPr sz="12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실행 방향</a:t>
            </a:r>
          </a:p>
          <a:p>
            <a:pPr lvl="3" algn="l"/>
            <a:r>
              <a:rPr sz="11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품질 중심의 실행 범위와 담당 조직을 구체화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SK하이닉스와 세부 기준 협의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성과는 데이터 지표와 일정 준수율로 확인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02D2E7-813E-6E99-58D0-8D2BEB2455D8}"/>
              </a:ext>
            </a:extLst>
          </p:cNvPr>
          <p:cNvSpPr txBox="1"/>
          <p:nvPr/>
        </p:nvSpPr>
        <p:spPr>
          <a:xfrm>
            <a:off x="273050" y="170118"/>
            <a:ext cx="6583680" cy="461665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성과지표 및 목표 수준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C7791A-BA6A-2957-973C-EA800BD9C0F1}"/>
              </a:ext>
            </a:extLst>
          </p:cNvPr>
          <p:cNvSpPr txBox="1"/>
          <p:nvPr/>
        </p:nvSpPr>
        <p:spPr>
          <a:xfrm>
            <a:off x="280041" y="6647300"/>
            <a:ext cx="9350335" cy="215443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※ 본 자료는 스마트 제조 사업단 시연을 위해 생성한 가상 데이터이며 실제 사업정보가 아닙니다.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>
          <a:extLst>
            <a:ext uri="{FF2B5EF4-FFF2-40B4-BE49-F238E27FC236}">
              <a16:creationId xmlns:a16="http://schemas.microsoft.com/office/drawing/2014/main" id="{A8EA50D1-18E7-178C-9D2A-B4E4C652B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4BAA677-C132-8B73-027B-6C9DB766669C}"/>
              </a:ext>
            </a:extLst>
          </p:cNvPr>
          <p:cNvSpPr/>
          <p:nvPr/>
        </p:nvSpPr>
        <p:spPr>
          <a:xfrm>
            <a:off x="272480" y="944562"/>
            <a:ext cx="1391281" cy="5653086"/>
          </a:xfrm>
          <a:prstGeom prst="rect">
            <a:avLst/>
          </a:prstGeom>
          <a:noFill/>
        </p:spPr>
        <p:txBody>
          <a:bodyPr wrap="none" anchor="ctr" anchorCtr="0">
            <a:noAutofit/>
          </a:bodyPr>
          <a:lstStyle/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SMART
FACTORY</a:t>
            </a: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A6769721-62EF-F654-B5D9-FDF5037B04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8938" y="1097366"/>
            <a:ext cx="7965133" cy="5500282"/>
          </a:xfrm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AI 기반 자율제조 운영체계 구축</a:t>
            </a:r>
          </a:p>
          <a:p>
            <a:pPr lvl="1" algn="l"/>
            <a:r>
              <a:rPr sz="13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Phase 1 · 실증 계획과 검증 기준</a:t>
            </a:r>
          </a:p>
          <a:p>
            <a:pPr lvl="2" algn="l"/>
            <a:r>
              <a:rPr sz="12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추진 내용</a:t>
            </a:r>
          </a:p>
          <a:p>
            <a:pPr lvl="3" algn="l"/>
            <a:r>
              <a:rPr sz="11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공정 중심의 실행 범위와 담당 조직을 구체화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SK실트론와 세부 기준 협의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성과는 자동화 지표와 일정 준수율로 확인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A644DF-F8FE-5839-6496-D7CF0BF2A1EB}"/>
              </a:ext>
            </a:extLst>
          </p:cNvPr>
          <p:cNvSpPr txBox="1"/>
          <p:nvPr/>
        </p:nvSpPr>
        <p:spPr>
          <a:xfrm>
            <a:off x="273050" y="170118"/>
            <a:ext cx="6583680" cy="461665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실증 계획과 검증 기준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839E8-49E3-0FB7-5DA7-4AE26A787775}"/>
              </a:ext>
            </a:extLst>
          </p:cNvPr>
          <p:cNvSpPr txBox="1"/>
          <p:nvPr/>
        </p:nvSpPr>
        <p:spPr>
          <a:xfrm>
            <a:off x="280041" y="6647300"/>
            <a:ext cx="9350335" cy="215443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※ 본 자료는 스마트 제조 사업단 시연을 위해 생성한 가상 데이터이며 실제 사업정보가 아닙니다.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/>
              <a:cs typeface="Tahoma" panose="020B0604030504040204" pitchFamily="34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A8E42F2-0154-4A19-6D8A-89274E669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167333"/>
              </p:ext>
            </p:extLst>
          </p:nvPr>
        </p:nvGraphicFramePr>
        <p:xfrm>
          <a:off x="2649537" y="4733336"/>
          <a:ext cx="6875461" cy="761219"/>
        </p:xfrm>
        <a:graphic>
          <a:graphicData uri="http://schemas.openxmlformats.org/drawingml/2006/table">
            <a:tbl>
              <a:tblPr/>
              <a:tblGrid>
                <a:gridCol w="655638">
                  <a:extLst>
                    <a:ext uri="{9D8B030D-6E8A-4147-A177-3AD203B41FA5}">
                      <a16:colId xmlns:a16="http://schemas.microsoft.com/office/drawing/2014/main" val="3685127304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90954495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538179377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3305996028"/>
                    </a:ext>
                  </a:extLst>
                </a:gridCol>
                <a:gridCol w="790573">
                  <a:extLst>
                    <a:ext uri="{9D8B030D-6E8A-4147-A177-3AD203B41FA5}">
                      <a16:colId xmlns:a16="http://schemas.microsoft.com/office/drawing/2014/main" val="1821002234"/>
                    </a:ext>
                  </a:extLst>
                </a:gridCol>
              </a:tblGrid>
              <a:tr h="125245"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지원 적극성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Infra</a:t>
                      </a:r>
                      <a:endParaRPr kumimoji="1" lang="ko-KR" altLang="en-US" sz="1050" b="1" kern="0" baseline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수용성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07981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후보 A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공정 기반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높음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보유</a:t>
                      </a:r>
                      <a:endParaRPr lang="en-US" altLang="ko-KR" sz="1000" kern="1200" spc="0" baseline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높음</a:t>
                      </a:r>
                      <a:endParaRPr lang="en-US" altLang="ko-KR" sz="1000" kern="1200" spc="0" baseline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12203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후보 B</a:t>
                      </a:r>
                      <a:endParaRPr kumimoji="1" lang="en-US" altLang="ko-KR" sz="10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데이터 연계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중간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보유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중간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18108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후보 C</a:t>
                      </a:r>
                      <a:endParaRPr kumimoji="1" lang="en-US" altLang="ko-KR" sz="10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자동화 확장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검토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추가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조건부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963089"/>
                  </a:ext>
                </a:extLst>
              </a:tr>
            </a:tbl>
          </a:graphicData>
        </a:graphic>
      </p:graphicFrame>
      <p:sp>
        <p:nvSpPr>
          <p:cNvPr id="5" name="텍스트 개체 틀 17">
            <a:extLst>
              <a:ext uri="{FF2B5EF4-FFF2-40B4-BE49-F238E27FC236}">
                <a16:creationId xmlns:a16="http://schemas.microsoft.com/office/drawing/2014/main" id="{288F525E-67ED-8485-57C3-CD3EE06C5CE5}"/>
              </a:ext>
            </a:extLst>
          </p:cNvPr>
          <p:cNvSpPr txBox="1">
            <a:spLocks/>
          </p:cNvSpPr>
          <p:nvPr/>
        </p:nvSpPr>
        <p:spPr>
          <a:xfrm>
            <a:off x="2649539" y="4409182"/>
            <a:ext cx="6875462" cy="283365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Autofit/>
          </a:bodyPr>
          <a:lstStyle>
            <a:lvl1pPr marL="176213" indent="-176213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1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360363" indent="-184150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534988" indent="-174625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【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1" lang="ko-KR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표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】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E0D2058-0E6F-7C86-6F03-2DD784605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106868"/>
              </p:ext>
            </p:extLst>
          </p:nvPr>
        </p:nvGraphicFramePr>
        <p:xfrm>
          <a:off x="2649536" y="2297071"/>
          <a:ext cx="6875461" cy="1131928"/>
        </p:xfrm>
        <a:graphic>
          <a:graphicData uri="http://schemas.openxmlformats.org/drawingml/2006/table">
            <a:tbl>
              <a:tblPr/>
              <a:tblGrid>
                <a:gridCol w="1645373">
                  <a:extLst>
                    <a:ext uri="{9D8B030D-6E8A-4147-A177-3AD203B41FA5}">
                      <a16:colId xmlns:a16="http://schemas.microsoft.com/office/drawing/2014/main" val="3685127304"/>
                    </a:ext>
                  </a:extLst>
                </a:gridCol>
                <a:gridCol w="2096655">
                  <a:extLst>
                    <a:ext uri="{9D8B030D-6E8A-4147-A177-3AD203B41FA5}">
                      <a16:colId xmlns:a16="http://schemas.microsoft.com/office/drawing/2014/main" val="538179377"/>
                    </a:ext>
                  </a:extLst>
                </a:gridCol>
                <a:gridCol w="3133433">
                  <a:extLst>
                    <a:ext uri="{9D8B030D-6E8A-4147-A177-3AD203B41FA5}">
                      <a16:colId xmlns:a16="http://schemas.microsoft.com/office/drawing/2014/main" val="3305996028"/>
                    </a:ext>
                  </a:extLst>
                </a:gridCol>
              </a:tblGrid>
              <a:tr h="213706"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추진방안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07981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디지털 트윈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디지털 트윈 적용 범위 정의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SK하이닉스 주관 검토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12203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예지보전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예지보전 기술 조건 확인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SK실트론 공동 실증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18108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품질</a:t>
                      </a:r>
                      <a:endParaRPr kumimoji="1" lang="en-US" altLang="ko-KR" sz="1000" b="1" kern="0" baseline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품질 운영 기준 수립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사업단 통합 관리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963089"/>
                  </a:ext>
                </a:extLst>
              </a:tr>
            </a:tbl>
          </a:graphicData>
        </a:graphic>
      </p:graphicFrame>
      <p:sp>
        <p:nvSpPr>
          <p:cNvPr id="8" name="텍스트 개체 틀 17">
            <a:extLst>
              <a:ext uri="{FF2B5EF4-FFF2-40B4-BE49-F238E27FC236}">
                <a16:creationId xmlns:a16="http://schemas.microsoft.com/office/drawing/2014/main" id="{036726C2-0E9C-02F8-8FD5-622C5B317661}"/>
              </a:ext>
            </a:extLst>
          </p:cNvPr>
          <p:cNvSpPr txBox="1">
            <a:spLocks/>
          </p:cNvSpPr>
          <p:nvPr/>
        </p:nvSpPr>
        <p:spPr>
          <a:xfrm>
            <a:off x="2649539" y="1963685"/>
            <a:ext cx="6875462" cy="283365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Autofit/>
          </a:bodyPr>
          <a:lstStyle>
            <a:lvl1pPr marL="176213" indent="-176213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1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360363" indent="-184150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534988" indent="-174625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【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1" lang="ko-KR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표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】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>
          <a:extLst>
            <a:ext uri="{FF2B5EF4-FFF2-40B4-BE49-F238E27FC236}">
              <a16:creationId xmlns:a16="http://schemas.microsoft.com/office/drawing/2014/main" id="{F3DD9458-6313-B51C-866A-47B563CF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0FF554-4351-B6AB-376A-35C4303A02DA}"/>
              </a:ext>
            </a:extLst>
          </p:cNvPr>
          <p:cNvSpPr/>
          <p:nvPr/>
        </p:nvSpPr>
        <p:spPr>
          <a:xfrm>
            <a:off x="272480" y="944562"/>
            <a:ext cx="1391281" cy="5653086"/>
          </a:xfrm>
          <a:prstGeom prst="rect">
            <a:avLst/>
          </a:prstGeom>
          <a:noFill/>
        </p:spPr>
        <p:txBody>
          <a:bodyPr wrap="none" anchor="ctr" anchorCtr="0">
            <a:noAutofit/>
          </a:bodyPr>
          <a:lstStyle/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SMART
FACTORY</a:t>
            </a: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2C0E2E5F-5851-8A41-2CC5-F18557058D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8938" y="1097366"/>
            <a:ext cx="7965133" cy="5500282"/>
          </a:xfrm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AI 기반 자율제조 운영체계 구축</a:t>
            </a:r>
          </a:p>
          <a:p>
            <a:pPr lvl="1" algn="l"/>
            <a:r>
              <a:rPr sz="13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Phase 2 · 운영 모델과 역할 분담</a:t>
            </a:r>
          </a:p>
          <a:p>
            <a:pPr lvl="2" algn="l"/>
            <a:r>
              <a:rPr sz="12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검토 결과</a:t>
            </a:r>
          </a:p>
          <a:p>
            <a:pPr lvl="3" algn="l"/>
            <a:r>
              <a:rPr sz="11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데이터 중심의 실행 범위와 담당 조직을 구체화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SK C&amp;C와 세부 기준 협의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성과는 디지털 트윈 지표와 일정 준수율로 확인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02D2E7-813E-6E99-58D0-8D2BEB2455D8}"/>
              </a:ext>
            </a:extLst>
          </p:cNvPr>
          <p:cNvSpPr txBox="1"/>
          <p:nvPr/>
        </p:nvSpPr>
        <p:spPr>
          <a:xfrm>
            <a:off x="273050" y="170118"/>
            <a:ext cx="6583680" cy="461665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운영 모델과 역할 분담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C7791A-BA6A-2957-973C-EA800BD9C0F1}"/>
              </a:ext>
            </a:extLst>
          </p:cNvPr>
          <p:cNvSpPr txBox="1"/>
          <p:nvPr/>
        </p:nvSpPr>
        <p:spPr>
          <a:xfrm>
            <a:off x="280041" y="6647300"/>
            <a:ext cx="9350335" cy="215443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※ 본 자료는 스마트 제조 사업단 시연을 위해 생성한 가상 데이터이며 실제 사업정보가 아닙니다.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>
          <a:extLst>
            <a:ext uri="{FF2B5EF4-FFF2-40B4-BE49-F238E27FC236}">
              <a16:creationId xmlns:a16="http://schemas.microsoft.com/office/drawing/2014/main" id="{A8EA50D1-18E7-178C-9D2A-B4E4C652B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4BAA677-C132-8B73-027B-6C9DB766669C}"/>
              </a:ext>
            </a:extLst>
          </p:cNvPr>
          <p:cNvSpPr/>
          <p:nvPr/>
        </p:nvSpPr>
        <p:spPr>
          <a:xfrm>
            <a:off x="272480" y="944562"/>
            <a:ext cx="1391281" cy="5653086"/>
          </a:xfrm>
          <a:prstGeom prst="rect">
            <a:avLst/>
          </a:prstGeom>
          <a:noFill/>
        </p:spPr>
        <p:txBody>
          <a:bodyPr wrap="none" anchor="ctr" anchorCtr="0">
            <a:noAutofit/>
          </a:bodyPr>
          <a:lstStyle/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SMART
FACTORY</a:t>
            </a: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A6769721-62EF-F654-B5D9-FDF5037B04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8938" y="1097366"/>
            <a:ext cx="7965133" cy="5500282"/>
          </a:xfrm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AI 기반 자율제조 운영체계 구축</a:t>
            </a:r>
          </a:p>
          <a:p>
            <a:pPr lvl="1" algn="l"/>
            <a:r>
              <a:rPr sz="13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Phase 2 · 인프라 후보 및 선정 기준</a:t>
            </a:r>
          </a:p>
          <a:p>
            <a:pPr lvl="2" algn="l"/>
            <a:r>
              <a:rPr sz="12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협의 사항</a:t>
            </a:r>
          </a:p>
          <a:p>
            <a:pPr lvl="3" algn="l"/>
            <a:r>
              <a:rPr sz="11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자동화 중심의 실행 범위와 담당 조직을 구체화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설비 파트너와 세부 기준 협의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성과는 예지보전 지표와 일정 준수율로 확인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A644DF-F8FE-5839-6496-D7CF0BF2A1EB}"/>
              </a:ext>
            </a:extLst>
          </p:cNvPr>
          <p:cNvSpPr txBox="1"/>
          <p:nvPr/>
        </p:nvSpPr>
        <p:spPr>
          <a:xfrm>
            <a:off x="273050" y="170118"/>
            <a:ext cx="6583680" cy="461665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인프라 후보 및 선정 기준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839E8-49E3-0FB7-5DA7-4AE26A787775}"/>
              </a:ext>
            </a:extLst>
          </p:cNvPr>
          <p:cNvSpPr txBox="1"/>
          <p:nvPr/>
        </p:nvSpPr>
        <p:spPr>
          <a:xfrm>
            <a:off x="280041" y="6647300"/>
            <a:ext cx="9350335" cy="215443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※ 본 자료는 스마트 제조 사업단 시연을 위해 생성한 가상 데이터이며 실제 사업정보가 아닙니다.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/>
              <a:cs typeface="Tahoma" panose="020B0604030504040204" pitchFamily="34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A8E42F2-0154-4A19-6D8A-89274E669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167333"/>
              </p:ext>
            </p:extLst>
          </p:nvPr>
        </p:nvGraphicFramePr>
        <p:xfrm>
          <a:off x="2649537" y="4733336"/>
          <a:ext cx="6875461" cy="761219"/>
        </p:xfrm>
        <a:graphic>
          <a:graphicData uri="http://schemas.openxmlformats.org/drawingml/2006/table">
            <a:tbl>
              <a:tblPr/>
              <a:tblGrid>
                <a:gridCol w="655638">
                  <a:extLst>
                    <a:ext uri="{9D8B030D-6E8A-4147-A177-3AD203B41FA5}">
                      <a16:colId xmlns:a16="http://schemas.microsoft.com/office/drawing/2014/main" val="3685127304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90954495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538179377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3305996028"/>
                    </a:ext>
                  </a:extLst>
                </a:gridCol>
                <a:gridCol w="790573">
                  <a:extLst>
                    <a:ext uri="{9D8B030D-6E8A-4147-A177-3AD203B41FA5}">
                      <a16:colId xmlns:a16="http://schemas.microsoft.com/office/drawing/2014/main" val="1821002234"/>
                    </a:ext>
                  </a:extLst>
                </a:gridCol>
              </a:tblGrid>
              <a:tr h="125245"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지원 적극성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Infra</a:t>
                      </a:r>
                      <a:endParaRPr kumimoji="1" lang="ko-KR" altLang="en-US" sz="1050" b="1" kern="0" baseline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수용성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07981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후보 A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공정 기반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높음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보유</a:t>
                      </a:r>
                      <a:endParaRPr lang="en-US" altLang="ko-KR" sz="1000" kern="1200" spc="0" baseline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높음</a:t>
                      </a:r>
                      <a:endParaRPr lang="en-US" altLang="ko-KR" sz="1000" kern="1200" spc="0" baseline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12203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후보 B</a:t>
                      </a:r>
                      <a:endParaRPr kumimoji="1" lang="en-US" altLang="ko-KR" sz="10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데이터 연계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중간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보유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중간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18108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후보 C</a:t>
                      </a:r>
                      <a:endParaRPr kumimoji="1" lang="en-US" altLang="ko-KR" sz="10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자동화 확장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검토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추가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조건부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963089"/>
                  </a:ext>
                </a:extLst>
              </a:tr>
            </a:tbl>
          </a:graphicData>
        </a:graphic>
      </p:graphicFrame>
      <p:sp>
        <p:nvSpPr>
          <p:cNvPr id="5" name="텍스트 개체 틀 17">
            <a:extLst>
              <a:ext uri="{FF2B5EF4-FFF2-40B4-BE49-F238E27FC236}">
                <a16:creationId xmlns:a16="http://schemas.microsoft.com/office/drawing/2014/main" id="{288F525E-67ED-8485-57C3-CD3EE06C5CE5}"/>
              </a:ext>
            </a:extLst>
          </p:cNvPr>
          <p:cNvSpPr txBox="1">
            <a:spLocks/>
          </p:cNvSpPr>
          <p:nvPr/>
        </p:nvSpPr>
        <p:spPr>
          <a:xfrm>
            <a:off x="2649539" y="4409182"/>
            <a:ext cx="6875462" cy="283365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Autofit/>
          </a:bodyPr>
          <a:lstStyle>
            <a:lvl1pPr marL="176213" indent="-176213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1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360363" indent="-184150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534988" indent="-174625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【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1" lang="ko-KR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표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】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E0D2058-0E6F-7C86-6F03-2DD784605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106868"/>
              </p:ext>
            </p:extLst>
          </p:nvPr>
        </p:nvGraphicFramePr>
        <p:xfrm>
          <a:off x="2649536" y="2297071"/>
          <a:ext cx="6875461" cy="1131928"/>
        </p:xfrm>
        <a:graphic>
          <a:graphicData uri="http://schemas.openxmlformats.org/drawingml/2006/table">
            <a:tbl>
              <a:tblPr/>
              <a:tblGrid>
                <a:gridCol w="1645373">
                  <a:extLst>
                    <a:ext uri="{9D8B030D-6E8A-4147-A177-3AD203B41FA5}">
                      <a16:colId xmlns:a16="http://schemas.microsoft.com/office/drawing/2014/main" val="3685127304"/>
                    </a:ext>
                  </a:extLst>
                </a:gridCol>
                <a:gridCol w="2096655">
                  <a:extLst>
                    <a:ext uri="{9D8B030D-6E8A-4147-A177-3AD203B41FA5}">
                      <a16:colId xmlns:a16="http://schemas.microsoft.com/office/drawing/2014/main" val="538179377"/>
                    </a:ext>
                  </a:extLst>
                </a:gridCol>
                <a:gridCol w="3133433">
                  <a:extLst>
                    <a:ext uri="{9D8B030D-6E8A-4147-A177-3AD203B41FA5}">
                      <a16:colId xmlns:a16="http://schemas.microsoft.com/office/drawing/2014/main" val="3305996028"/>
                    </a:ext>
                  </a:extLst>
                </a:gridCol>
              </a:tblGrid>
              <a:tr h="213706"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추진방안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07981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디지털 트윈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디지털 트윈 적용 범위 정의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SK하이닉스 주관 검토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12203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예지보전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예지보전 기술 조건 확인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SK실트론 공동 실증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18108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품질</a:t>
                      </a:r>
                      <a:endParaRPr kumimoji="1" lang="en-US" altLang="ko-KR" sz="1000" b="1" kern="0" baseline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품질 운영 기준 수립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사업단 통합 관리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963089"/>
                  </a:ext>
                </a:extLst>
              </a:tr>
            </a:tbl>
          </a:graphicData>
        </a:graphic>
      </p:graphicFrame>
      <p:sp>
        <p:nvSpPr>
          <p:cNvPr id="8" name="텍스트 개체 틀 17">
            <a:extLst>
              <a:ext uri="{FF2B5EF4-FFF2-40B4-BE49-F238E27FC236}">
                <a16:creationId xmlns:a16="http://schemas.microsoft.com/office/drawing/2014/main" id="{036726C2-0E9C-02F8-8FD5-622C5B317661}"/>
              </a:ext>
            </a:extLst>
          </p:cNvPr>
          <p:cNvSpPr txBox="1">
            <a:spLocks/>
          </p:cNvSpPr>
          <p:nvPr/>
        </p:nvSpPr>
        <p:spPr>
          <a:xfrm>
            <a:off x="2649539" y="1963685"/>
            <a:ext cx="6875462" cy="283365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Autofit/>
          </a:bodyPr>
          <a:lstStyle>
            <a:lvl1pPr marL="176213" indent="-176213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1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360363" indent="-184150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534988" indent="-174625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【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1" lang="ko-KR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표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】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>
          <a:extLst>
            <a:ext uri="{FF2B5EF4-FFF2-40B4-BE49-F238E27FC236}">
              <a16:creationId xmlns:a16="http://schemas.microsoft.com/office/drawing/2014/main" id="{F3DD9458-6313-B51C-866A-47B563CF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0FF554-4351-B6AB-376A-35C4303A02DA}"/>
              </a:ext>
            </a:extLst>
          </p:cNvPr>
          <p:cNvSpPr/>
          <p:nvPr/>
        </p:nvSpPr>
        <p:spPr>
          <a:xfrm>
            <a:off x="272480" y="944562"/>
            <a:ext cx="1391281" cy="5653086"/>
          </a:xfrm>
          <a:prstGeom prst="rect">
            <a:avLst/>
          </a:prstGeom>
          <a:noFill/>
        </p:spPr>
        <p:txBody>
          <a:bodyPr wrap="none" anchor="ctr" anchorCtr="0">
            <a:noAutofit/>
          </a:bodyPr>
          <a:lstStyle/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SMART
FACTORY</a:t>
            </a: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2C0E2E5F-5851-8A41-2CC5-F18557058D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8938" y="1097366"/>
            <a:ext cx="7965133" cy="5500282"/>
          </a:xfrm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AI 기반 자율제조 운영체계 구축</a:t>
            </a:r>
          </a:p>
          <a:p>
            <a:pPr lvl="1" algn="l"/>
            <a:r>
              <a:rPr sz="13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Phase 2 · 파트너십 추진 방향</a:t>
            </a:r>
          </a:p>
          <a:p>
            <a:pPr lvl="2" algn="l"/>
            <a:r>
              <a:rPr sz="12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핵심 판단</a:t>
            </a:r>
          </a:p>
          <a:p>
            <a:pPr lvl="3" algn="l"/>
            <a:r>
              <a:rPr sz="11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디지털 트윈 중심의 실행 범위와 담당 조직을 구체화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SK하이닉스와 세부 기준 협의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성과는 품질 지표와 일정 준수율로 확인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02D2E7-813E-6E99-58D0-8D2BEB2455D8}"/>
              </a:ext>
            </a:extLst>
          </p:cNvPr>
          <p:cNvSpPr txBox="1"/>
          <p:nvPr/>
        </p:nvSpPr>
        <p:spPr>
          <a:xfrm>
            <a:off x="273050" y="170118"/>
            <a:ext cx="6583680" cy="461665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파트너십 추진 방향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C7791A-BA6A-2957-973C-EA800BD9C0F1}"/>
              </a:ext>
            </a:extLst>
          </p:cNvPr>
          <p:cNvSpPr txBox="1"/>
          <p:nvPr/>
        </p:nvSpPr>
        <p:spPr>
          <a:xfrm>
            <a:off x="280041" y="6647300"/>
            <a:ext cx="9350335" cy="215443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※ 본 자료는 스마트 제조 사업단 시연을 위해 생성한 가상 데이터이며 실제 사업정보가 아닙니다.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>
          <a:extLst>
            <a:ext uri="{FF2B5EF4-FFF2-40B4-BE49-F238E27FC236}">
              <a16:creationId xmlns:a16="http://schemas.microsoft.com/office/drawing/2014/main" id="{A8EA50D1-18E7-178C-9D2A-B4E4C652B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4BAA677-C132-8B73-027B-6C9DB766669C}"/>
              </a:ext>
            </a:extLst>
          </p:cNvPr>
          <p:cNvSpPr/>
          <p:nvPr/>
        </p:nvSpPr>
        <p:spPr>
          <a:xfrm>
            <a:off x="272480" y="944562"/>
            <a:ext cx="1391281" cy="5653086"/>
          </a:xfrm>
          <a:prstGeom prst="rect">
            <a:avLst/>
          </a:prstGeom>
          <a:noFill/>
        </p:spPr>
        <p:txBody>
          <a:bodyPr wrap="none" anchor="ctr" anchorCtr="0">
            <a:noAutofit/>
          </a:bodyPr>
          <a:lstStyle/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SMART
FACTORY</a:t>
            </a: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A6769721-62EF-F654-B5D9-FDF5037B04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8938" y="1097366"/>
            <a:ext cx="7965133" cy="5500282"/>
          </a:xfrm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AI 기반 자율제조 운영체계 구축</a:t>
            </a:r>
          </a:p>
          <a:p>
            <a:pPr lvl="1" algn="l"/>
            <a:r>
              <a:rPr sz="13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Phase 2 · 규제·보안·품질 대응</a:t>
            </a:r>
          </a:p>
          <a:p>
            <a:pPr lvl="2" algn="l"/>
            <a:r>
              <a:rPr sz="12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실행 방향</a:t>
            </a:r>
          </a:p>
          <a:p>
            <a:pPr lvl="3" algn="l"/>
            <a:r>
              <a:rPr sz="11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예지보전 중심의 실행 범위와 담당 조직을 구체화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SK실트론와 세부 기준 협의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성과는 공정 지표와 일정 준수율로 확인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A644DF-F8FE-5839-6496-D7CF0BF2A1EB}"/>
              </a:ext>
            </a:extLst>
          </p:cNvPr>
          <p:cNvSpPr txBox="1"/>
          <p:nvPr/>
        </p:nvSpPr>
        <p:spPr>
          <a:xfrm>
            <a:off x="273050" y="170118"/>
            <a:ext cx="6583680" cy="461665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규제·보안·품질 대응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839E8-49E3-0FB7-5DA7-4AE26A787775}"/>
              </a:ext>
            </a:extLst>
          </p:cNvPr>
          <p:cNvSpPr txBox="1"/>
          <p:nvPr/>
        </p:nvSpPr>
        <p:spPr>
          <a:xfrm>
            <a:off x="280041" y="6647300"/>
            <a:ext cx="9350335" cy="215443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※ 본 자료는 스마트 제조 사업단 시연을 위해 생성한 가상 데이터이며 실제 사업정보가 아닙니다.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/>
              <a:cs typeface="Tahoma" panose="020B0604030504040204" pitchFamily="34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A8E42F2-0154-4A19-6D8A-89274E669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167333"/>
              </p:ext>
            </p:extLst>
          </p:nvPr>
        </p:nvGraphicFramePr>
        <p:xfrm>
          <a:off x="2649537" y="4733336"/>
          <a:ext cx="6875461" cy="761219"/>
        </p:xfrm>
        <a:graphic>
          <a:graphicData uri="http://schemas.openxmlformats.org/drawingml/2006/table">
            <a:tbl>
              <a:tblPr/>
              <a:tblGrid>
                <a:gridCol w="655638">
                  <a:extLst>
                    <a:ext uri="{9D8B030D-6E8A-4147-A177-3AD203B41FA5}">
                      <a16:colId xmlns:a16="http://schemas.microsoft.com/office/drawing/2014/main" val="3685127304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90954495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538179377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3305996028"/>
                    </a:ext>
                  </a:extLst>
                </a:gridCol>
                <a:gridCol w="790573">
                  <a:extLst>
                    <a:ext uri="{9D8B030D-6E8A-4147-A177-3AD203B41FA5}">
                      <a16:colId xmlns:a16="http://schemas.microsoft.com/office/drawing/2014/main" val="1821002234"/>
                    </a:ext>
                  </a:extLst>
                </a:gridCol>
              </a:tblGrid>
              <a:tr h="125245"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지원 적극성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Infra</a:t>
                      </a:r>
                      <a:endParaRPr kumimoji="1" lang="ko-KR" altLang="en-US" sz="1050" b="1" kern="0" baseline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수용성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07981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후보 A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공정 기반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높음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보유</a:t>
                      </a:r>
                      <a:endParaRPr lang="en-US" altLang="ko-KR" sz="1000" kern="1200" spc="0" baseline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높음</a:t>
                      </a:r>
                      <a:endParaRPr lang="en-US" altLang="ko-KR" sz="1000" kern="1200" spc="0" baseline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12203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후보 B</a:t>
                      </a:r>
                      <a:endParaRPr kumimoji="1" lang="en-US" altLang="ko-KR" sz="10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데이터 연계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중간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보유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중간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18108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후보 C</a:t>
                      </a:r>
                      <a:endParaRPr kumimoji="1" lang="en-US" altLang="ko-KR" sz="10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자동화 확장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검토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추가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조건부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963089"/>
                  </a:ext>
                </a:extLst>
              </a:tr>
            </a:tbl>
          </a:graphicData>
        </a:graphic>
      </p:graphicFrame>
      <p:sp>
        <p:nvSpPr>
          <p:cNvPr id="5" name="텍스트 개체 틀 17">
            <a:extLst>
              <a:ext uri="{FF2B5EF4-FFF2-40B4-BE49-F238E27FC236}">
                <a16:creationId xmlns:a16="http://schemas.microsoft.com/office/drawing/2014/main" id="{288F525E-67ED-8485-57C3-CD3EE06C5CE5}"/>
              </a:ext>
            </a:extLst>
          </p:cNvPr>
          <p:cNvSpPr txBox="1">
            <a:spLocks/>
          </p:cNvSpPr>
          <p:nvPr/>
        </p:nvSpPr>
        <p:spPr>
          <a:xfrm>
            <a:off x="2649539" y="4409182"/>
            <a:ext cx="6875462" cy="283365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Autofit/>
          </a:bodyPr>
          <a:lstStyle>
            <a:lvl1pPr marL="176213" indent="-176213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1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360363" indent="-184150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534988" indent="-174625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【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1" lang="ko-KR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표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】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E0D2058-0E6F-7C86-6F03-2DD784605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106868"/>
              </p:ext>
            </p:extLst>
          </p:nvPr>
        </p:nvGraphicFramePr>
        <p:xfrm>
          <a:off x="2649536" y="2297071"/>
          <a:ext cx="6875461" cy="1131928"/>
        </p:xfrm>
        <a:graphic>
          <a:graphicData uri="http://schemas.openxmlformats.org/drawingml/2006/table">
            <a:tbl>
              <a:tblPr/>
              <a:tblGrid>
                <a:gridCol w="1645373">
                  <a:extLst>
                    <a:ext uri="{9D8B030D-6E8A-4147-A177-3AD203B41FA5}">
                      <a16:colId xmlns:a16="http://schemas.microsoft.com/office/drawing/2014/main" val="3685127304"/>
                    </a:ext>
                  </a:extLst>
                </a:gridCol>
                <a:gridCol w="2096655">
                  <a:extLst>
                    <a:ext uri="{9D8B030D-6E8A-4147-A177-3AD203B41FA5}">
                      <a16:colId xmlns:a16="http://schemas.microsoft.com/office/drawing/2014/main" val="538179377"/>
                    </a:ext>
                  </a:extLst>
                </a:gridCol>
                <a:gridCol w="3133433">
                  <a:extLst>
                    <a:ext uri="{9D8B030D-6E8A-4147-A177-3AD203B41FA5}">
                      <a16:colId xmlns:a16="http://schemas.microsoft.com/office/drawing/2014/main" val="3305996028"/>
                    </a:ext>
                  </a:extLst>
                </a:gridCol>
              </a:tblGrid>
              <a:tr h="213706"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추진방안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07981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디지털 트윈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디지털 트윈 적용 범위 정의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SK하이닉스 주관 검토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12203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예지보전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예지보전 기술 조건 확인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SK실트론 공동 실증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18108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품질</a:t>
                      </a:r>
                      <a:endParaRPr kumimoji="1" lang="en-US" altLang="ko-KR" sz="1000" b="1" kern="0" baseline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품질 운영 기준 수립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사업단 통합 관리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963089"/>
                  </a:ext>
                </a:extLst>
              </a:tr>
            </a:tbl>
          </a:graphicData>
        </a:graphic>
      </p:graphicFrame>
      <p:sp>
        <p:nvSpPr>
          <p:cNvPr id="8" name="텍스트 개체 틀 17">
            <a:extLst>
              <a:ext uri="{FF2B5EF4-FFF2-40B4-BE49-F238E27FC236}">
                <a16:creationId xmlns:a16="http://schemas.microsoft.com/office/drawing/2014/main" id="{036726C2-0E9C-02F8-8FD5-622C5B317661}"/>
              </a:ext>
            </a:extLst>
          </p:cNvPr>
          <p:cNvSpPr txBox="1">
            <a:spLocks/>
          </p:cNvSpPr>
          <p:nvPr/>
        </p:nvSpPr>
        <p:spPr>
          <a:xfrm>
            <a:off x="2649539" y="1963685"/>
            <a:ext cx="6875462" cy="283365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Autofit/>
          </a:bodyPr>
          <a:lstStyle>
            <a:lvl1pPr marL="176213" indent="-176213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1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360363" indent="-184150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534988" indent="-174625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【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1" lang="ko-KR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표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】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>
          <a:extLst>
            <a:ext uri="{FF2B5EF4-FFF2-40B4-BE49-F238E27FC236}">
              <a16:creationId xmlns:a16="http://schemas.microsoft.com/office/drawing/2014/main" id="{F3DD9458-6313-B51C-866A-47B563CF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0FF554-4351-B6AB-376A-35C4303A02DA}"/>
              </a:ext>
            </a:extLst>
          </p:cNvPr>
          <p:cNvSpPr/>
          <p:nvPr/>
        </p:nvSpPr>
        <p:spPr>
          <a:xfrm>
            <a:off x="272480" y="944562"/>
            <a:ext cx="1391281" cy="5653086"/>
          </a:xfrm>
          <a:prstGeom prst="rect">
            <a:avLst/>
          </a:prstGeom>
          <a:noFill/>
        </p:spPr>
        <p:txBody>
          <a:bodyPr wrap="none" anchor="ctr" anchorCtr="0">
            <a:noAutofit/>
          </a:bodyPr>
          <a:lstStyle/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SMART
FACTORY</a:t>
            </a: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2C0E2E5F-5851-8A41-2CC5-F18557058D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8938" y="1097366"/>
            <a:ext cx="7965133" cy="5500282"/>
          </a:xfrm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AI 기반 자율제조 운영체계 구축</a:t>
            </a:r>
          </a:p>
          <a:p>
            <a:pPr lvl="1" algn="l"/>
            <a:r>
              <a:rPr sz="13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Phase 2 · 조직 체계와 의사결정 구조</a:t>
            </a:r>
          </a:p>
          <a:p>
            <a:pPr lvl="2" algn="l"/>
            <a:r>
              <a:rPr sz="12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추진 내용</a:t>
            </a:r>
          </a:p>
          <a:p>
            <a:pPr lvl="3" algn="l"/>
            <a:r>
              <a:rPr sz="11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품질 중심의 실행 범위와 담당 조직을 구체화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SK C&amp;C와 세부 기준 협의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성과는 데이터 지표와 일정 준수율로 확인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02D2E7-813E-6E99-58D0-8D2BEB2455D8}"/>
              </a:ext>
            </a:extLst>
          </p:cNvPr>
          <p:cNvSpPr txBox="1"/>
          <p:nvPr/>
        </p:nvSpPr>
        <p:spPr>
          <a:xfrm>
            <a:off x="273050" y="170118"/>
            <a:ext cx="6583680" cy="461665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조직 체계와 의사결정 구조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C7791A-BA6A-2957-973C-EA800BD9C0F1}"/>
              </a:ext>
            </a:extLst>
          </p:cNvPr>
          <p:cNvSpPr txBox="1"/>
          <p:nvPr/>
        </p:nvSpPr>
        <p:spPr>
          <a:xfrm>
            <a:off x="280041" y="6647300"/>
            <a:ext cx="9350335" cy="215443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※ 본 자료는 스마트 제조 사업단 시연을 위해 생성한 가상 데이터이며 실제 사업정보가 아닙니다.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>
          <a:extLst>
            <a:ext uri="{FF2B5EF4-FFF2-40B4-BE49-F238E27FC236}">
              <a16:creationId xmlns:a16="http://schemas.microsoft.com/office/drawing/2014/main" id="{A8EA50D1-18E7-178C-9D2A-B4E4C652B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4BAA677-C132-8B73-027B-6C9DB766669C}"/>
              </a:ext>
            </a:extLst>
          </p:cNvPr>
          <p:cNvSpPr/>
          <p:nvPr/>
        </p:nvSpPr>
        <p:spPr>
          <a:xfrm>
            <a:off x="272480" y="944562"/>
            <a:ext cx="1391281" cy="5653086"/>
          </a:xfrm>
          <a:prstGeom prst="rect">
            <a:avLst/>
          </a:prstGeom>
          <a:noFill/>
        </p:spPr>
        <p:txBody>
          <a:bodyPr wrap="none" anchor="ctr" anchorCtr="0">
            <a:noAutofit/>
          </a:bodyPr>
          <a:lstStyle/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SMART
FACTORY</a:t>
            </a: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A6769721-62EF-F654-B5D9-FDF5037B04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8938" y="1097366"/>
            <a:ext cx="7965133" cy="5500282"/>
          </a:xfrm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AI 기반 자율제조 운영체계 구축</a:t>
            </a:r>
          </a:p>
          <a:p>
            <a:pPr lvl="1" algn="l"/>
            <a:r>
              <a:rPr sz="13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Phase 2 · 확산 전략과 적용 순서</a:t>
            </a:r>
          </a:p>
          <a:p>
            <a:pPr lvl="2" algn="l"/>
            <a:r>
              <a:rPr sz="12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검토 결과</a:t>
            </a:r>
          </a:p>
          <a:p>
            <a:pPr lvl="3" algn="l"/>
            <a:r>
              <a:rPr sz="11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공정 중심의 실행 범위와 담당 조직을 구체화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설비 파트너와 세부 기준 협의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성과는 자동화 지표와 일정 준수율로 확인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A644DF-F8FE-5839-6496-D7CF0BF2A1EB}"/>
              </a:ext>
            </a:extLst>
          </p:cNvPr>
          <p:cNvSpPr txBox="1"/>
          <p:nvPr/>
        </p:nvSpPr>
        <p:spPr>
          <a:xfrm>
            <a:off x="273050" y="170118"/>
            <a:ext cx="6583680" cy="461665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확산 전략과 적용 순서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839E8-49E3-0FB7-5DA7-4AE26A787775}"/>
              </a:ext>
            </a:extLst>
          </p:cNvPr>
          <p:cNvSpPr txBox="1"/>
          <p:nvPr/>
        </p:nvSpPr>
        <p:spPr>
          <a:xfrm>
            <a:off x="280041" y="6647300"/>
            <a:ext cx="9350335" cy="215443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※ 본 자료는 스마트 제조 사업단 시연을 위해 생성한 가상 데이터이며 실제 사업정보가 아닙니다.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/>
              <a:cs typeface="Tahoma" panose="020B0604030504040204" pitchFamily="34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A8E42F2-0154-4A19-6D8A-89274E669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167333"/>
              </p:ext>
            </p:extLst>
          </p:nvPr>
        </p:nvGraphicFramePr>
        <p:xfrm>
          <a:off x="2649537" y="4733336"/>
          <a:ext cx="6875461" cy="761219"/>
        </p:xfrm>
        <a:graphic>
          <a:graphicData uri="http://schemas.openxmlformats.org/drawingml/2006/table">
            <a:tbl>
              <a:tblPr/>
              <a:tblGrid>
                <a:gridCol w="655638">
                  <a:extLst>
                    <a:ext uri="{9D8B030D-6E8A-4147-A177-3AD203B41FA5}">
                      <a16:colId xmlns:a16="http://schemas.microsoft.com/office/drawing/2014/main" val="3685127304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90954495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538179377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3305996028"/>
                    </a:ext>
                  </a:extLst>
                </a:gridCol>
                <a:gridCol w="790573">
                  <a:extLst>
                    <a:ext uri="{9D8B030D-6E8A-4147-A177-3AD203B41FA5}">
                      <a16:colId xmlns:a16="http://schemas.microsoft.com/office/drawing/2014/main" val="1821002234"/>
                    </a:ext>
                  </a:extLst>
                </a:gridCol>
              </a:tblGrid>
              <a:tr h="125245"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지원 적극성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Infra</a:t>
                      </a:r>
                      <a:endParaRPr kumimoji="1" lang="ko-KR" altLang="en-US" sz="1050" b="1" kern="0" baseline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수용성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07981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후보 A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공정 기반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높음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보유</a:t>
                      </a:r>
                      <a:endParaRPr lang="en-US" altLang="ko-KR" sz="1000" kern="1200" spc="0" baseline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높음</a:t>
                      </a:r>
                      <a:endParaRPr lang="en-US" altLang="ko-KR" sz="1000" kern="1200" spc="0" baseline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12203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후보 B</a:t>
                      </a:r>
                      <a:endParaRPr kumimoji="1" lang="en-US" altLang="ko-KR" sz="10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데이터 연계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중간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보유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중간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18108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후보 C</a:t>
                      </a:r>
                      <a:endParaRPr kumimoji="1" lang="en-US" altLang="ko-KR" sz="10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자동화 확장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검토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추가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조건부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963089"/>
                  </a:ext>
                </a:extLst>
              </a:tr>
            </a:tbl>
          </a:graphicData>
        </a:graphic>
      </p:graphicFrame>
      <p:sp>
        <p:nvSpPr>
          <p:cNvPr id="5" name="텍스트 개체 틀 17">
            <a:extLst>
              <a:ext uri="{FF2B5EF4-FFF2-40B4-BE49-F238E27FC236}">
                <a16:creationId xmlns:a16="http://schemas.microsoft.com/office/drawing/2014/main" id="{288F525E-67ED-8485-57C3-CD3EE06C5CE5}"/>
              </a:ext>
            </a:extLst>
          </p:cNvPr>
          <p:cNvSpPr txBox="1">
            <a:spLocks/>
          </p:cNvSpPr>
          <p:nvPr/>
        </p:nvSpPr>
        <p:spPr>
          <a:xfrm>
            <a:off x="2649539" y="4409182"/>
            <a:ext cx="6875462" cy="283365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Autofit/>
          </a:bodyPr>
          <a:lstStyle>
            <a:lvl1pPr marL="176213" indent="-176213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1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360363" indent="-184150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534988" indent="-174625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【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1" lang="ko-KR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표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】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E0D2058-0E6F-7C86-6F03-2DD784605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106868"/>
              </p:ext>
            </p:extLst>
          </p:nvPr>
        </p:nvGraphicFramePr>
        <p:xfrm>
          <a:off x="2649536" y="2297071"/>
          <a:ext cx="6875461" cy="1131928"/>
        </p:xfrm>
        <a:graphic>
          <a:graphicData uri="http://schemas.openxmlformats.org/drawingml/2006/table">
            <a:tbl>
              <a:tblPr/>
              <a:tblGrid>
                <a:gridCol w="1645373">
                  <a:extLst>
                    <a:ext uri="{9D8B030D-6E8A-4147-A177-3AD203B41FA5}">
                      <a16:colId xmlns:a16="http://schemas.microsoft.com/office/drawing/2014/main" val="3685127304"/>
                    </a:ext>
                  </a:extLst>
                </a:gridCol>
                <a:gridCol w="2096655">
                  <a:extLst>
                    <a:ext uri="{9D8B030D-6E8A-4147-A177-3AD203B41FA5}">
                      <a16:colId xmlns:a16="http://schemas.microsoft.com/office/drawing/2014/main" val="538179377"/>
                    </a:ext>
                  </a:extLst>
                </a:gridCol>
                <a:gridCol w="3133433">
                  <a:extLst>
                    <a:ext uri="{9D8B030D-6E8A-4147-A177-3AD203B41FA5}">
                      <a16:colId xmlns:a16="http://schemas.microsoft.com/office/drawing/2014/main" val="3305996028"/>
                    </a:ext>
                  </a:extLst>
                </a:gridCol>
              </a:tblGrid>
              <a:tr h="213706"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추진방안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07981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디지털 트윈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디지털 트윈 적용 범위 정의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SK하이닉스 주관 검토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12203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예지보전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예지보전 기술 조건 확인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SK실트론 공동 실증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18108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품질</a:t>
                      </a:r>
                      <a:endParaRPr kumimoji="1" lang="en-US" altLang="ko-KR" sz="1000" b="1" kern="0" baseline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품질 운영 기준 수립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사업단 통합 관리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963089"/>
                  </a:ext>
                </a:extLst>
              </a:tr>
            </a:tbl>
          </a:graphicData>
        </a:graphic>
      </p:graphicFrame>
      <p:sp>
        <p:nvSpPr>
          <p:cNvPr id="8" name="텍스트 개체 틀 17">
            <a:extLst>
              <a:ext uri="{FF2B5EF4-FFF2-40B4-BE49-F238E27FC236}">
                <a16:creationId xmlns:a16="http://schemas.microsoft.com/office/drawing/2014/main" id="{036726C2-0E9C-02F8-8FD5-622C5B317661}"/>
              </a:ext>
            </a:extLst>
          </p:cNvPr>
          <p:cNvSpPr txBox="1">
            <a:spLocks/>
          </p:cNvSpPr>
          <p:nvPr/>
        </p:nvSpPr>
        <p:spPr>
          <a:xfrm>
            <a:off x="2649539" y="1963685"/>
            <a:ext cx="6875462" cy="283365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Autofit/>
          </a:bodyPr>
          <a:lstStyle>
            <a:lvl1pPr marL="176213" indent="-176213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1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360363" indent="-184150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534988" indent="-174625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【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1" lang="ko-KR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표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】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>
          <a:extLst>
            <a:ext uri="{FF2B5EF4-FFF2-40B4-BE49-F238E27FC236}">
              <a16:creationId xmlns:a16="http://schemas.microsoft.com/office/drawing/2014/main" id="{F3DD9458-6313-B51C-866A-47B563CF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0FF554-4351-B6AB-376A-35C4303A02DA}"/>
              </a:ext>
            </a:extLst>
          </p:cNvPr>
          <p:cNvSpPr/>
          <p:nvPr/>
        </p:nvSpPr>
        <p:spPr>
          <a:xfrm>
            <a:off x="272480" y="944562"/>
            <a:ext cx="1391281" cy="5653086"/>
          </a:xfrm>
          <a:prstGeom prst="rect">
            <a:avLst/>
          </a:prstGeom>
          <a:noFill/>
        </p:spPr>
        <p:txBody>
          <a:bodyPr wrap="none" anchor="ctr" anchorCtr="0">
            <a:noAutofit/>
          </a:bodyPr>
          <a:lstStyle/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SMART
FACTORY</a:t>
            </a: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2C0E2E5F-5851-8A41-2CC5-F18557058D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8938" y="1097366"/>
            <a:ext cx="7965133" cy="5500282"/>
          </a:xfrm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AI 기반 자율제조 운영체계 구축</a:t>
            </a:r>
          </a:p>
          <a:p>
            <a:pPr lvl="1" algn="l"/>
            <a:r>
              <a:rPr sz="13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Phase 2 · 경영진 의사결정 요청사항</a:t>
            </a:r>
          </a:p>
          <a:p>
            <a:pPr lvl="2" algn="l"/>
            <a:r>
              <a:rPr sz="12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협의 사항</a:t>
            </a:r>
          </a:p>
          <a:p>
            <a:pPr lvl="3" algn="l"/>
            <a:r>
              <a:rPr sz="11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데이터 중심의 실행 범위와 담당 조직을 구체화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SK하이닉스와 세부 기준 협의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성과는 디지털 트윈 지표와 일정 준수율로 확인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02D2E7-813E-6E99-58D0-8D2BEB2455D8}"/>
              </a:ext>
            </a:extLst>
          </p:cNvPr>
          <p:cNvSpPr txBox="1"/>
          <p:nvPr/>
        </p:nvSpPr>
        <p:spPr>
          <a:xfrm>
            <a:off x="273050" y="170118"/>
            <a:ext cx="6583680" cy="461665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경영진 의사결정 요청사항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C7791A-BA6A-2957-973C-EA800BD9C0F1}"/>
              </a:ext>
            </a:extLst>
          </p:cNvPr>
          <p:cNvSpPr txBox="1"/>
          <p:nvPr/>
        </p:nvSpPr>
        <p:spPr>
          <a:xfrm>
            <a:off x="280041" y="6647300"/>
            <a:ext cx="9350335" cy="215443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※ 본 자료는 스마트 제조 사업단 시연을 위해 생성한 가상 데이터이며 실제 사업정보가 아닙니다.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>
          <a:extLst>
            <a:ext uri="{FF2B5EF4-FFF2-40B4-BE49-F238E27FC236}">
              <a16:creationId xmlns:a16="http://schemas.microsoft.com/office/drawing/2014/main" id="{0C832D66-FFB1-83CF-F984-0F2FBA3FB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B414C624-F1F1-F45E-6306-DC6CC262BB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8938" y="1097366"/>
            <a:ext cx="7965133" cy="5500282"/>
          </a:xfrm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AI 기반 자율제조 운영체계 구축</a:t>
            </a:r>
            <a:endParaRPr lang="en-US" altLang="ko-KR" dirty="0">
              <a:solidFill>
                <a:schemeClr val="tx1"/>
              </a:solidFill>
            </a:endParaRPr>
          </a:p>
          <a:p>
            <a:pPr lvl="1" algn="l"/>
            <a:r>
              <a:rPr sz="13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Phase 2 · 2단계 확산 일정</a:t>
            </a:r>
          </a:p>
          <a:p>
            <a:pPr lvl="2" algn="l"/>
            <a:r>
              <a:rPr sz="12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핵심 판단</a:t>
            </a:r>
          </a:p>
          <a:p>
            <a:pPr lvl="3" algn="l"/>
            <a:r>
              <a:rPr sz="11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자동화 중심의 실행 범위와 담당 조직을 구체화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SK실트론와 세부 기준 협의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성과는 예지보전 지표와 일정 준수율로 확인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E0CA606-66CD-58FC-CA82-FDE3237D8150}"/>
              </a:ext>
            </a:extLst>
          </p:cNvPr>
          <p:cNvSpPr/>
          <p:nvPr/>
        </p:nvSpPr>
        <p:spPr>
          <a:xfrm>
            <a:off x="272480" y="944562"/>
            <a:ext cx="1391281" cy="5653086"/>
          </a:xfrm>
          <a:prstGeom prst="rect">
            <a:avLst/>
          </a:prstGeom>
          <a:noFill/>
        </p:spPr>
        <p:txBody>
          <a:bodyPr wrap="none" anchor="ctr" anchorCtr="0">
            <a:noAutofit/>
          </a:bodyPr>
          <a:lstStyle/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SMART
FACTORY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8202E5-9A81-C175-C494-86ACBC462496}"/>
              </a:ext>
            </a:extLst>
          </p:cNvPr>
          <p:cNvSpPr txBox="1"/>
          <p:nvPr/>
        </p:nvSpPr>
        <p:spPr>
          <a:xfrm>
            <a:off x="273050" y="170118"/>
            <a:ext cx="6583680" cy="461665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2단계 확산 일정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19A85A1-9CBD-A823-F744-50FBC627E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041155"/>
              </p:ext>
            </p:extLst>
          </p:nvPr>
        </p:nvGraphicFramePr>
        <p:xfrm>
          <a:off x="2649538" y="3244741"/>
          <a:ext cx="6875462" cy="2123640"/>
        </p:xfrm>
        <a:graphic>
          <a:graphicData uri="http://schemas.openxmlformats.org/drawingml/2006/table">
            <a:tbl>
              <a:tblPr/>
              <a:tblGrid>
                <a:gridCol w="909450">
                  <a:extLst>
                    <a:ext uri="{9D8B030D-6E8A-4147-A177-3AD203B41FA5}">
                      <a16:colId xmlns:a16="http://schemas.microsoft.com/office/drawing/2014/main" val="3685127304"/>
                    </a:ext>
                  </a:extLst>
                </a:gridCol>
                <a:gridCol w="5966012">
                  <a:extLst>
                    <a:ext uri="{9D8B030D-6E8A-4147-A177-3AD203B41FA5}">
                      <a16:colId xmlns:a16="http://schemas.microsoft.com/office/drawing/2014/main" val="909544951"/>
                    </a:ext>
                  </a:extLst>
                </a:gridCol>
              </a:tblGrid>
              <a:tr h="202910"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구분</a:t>
                      </a:r>
                    </a:p>
                  </a:txBody>
                  <a:tcPr marL="0" marR="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협의 경과</a:t>
                      </a: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07981"/>
                  </a:ext>
                </a:extLst>
              </a:tr>
              <a:tr h="362845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SK하이닉스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디지털 트윈 범위 및 프로젝트 목표 협의</a:t>
                      </a:r>
                      <a:endParaRPr lang="en-US" altLang="ko-KR" sz="1000" b="0" u="none" kern="1200" spc="0" baseline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Tahoma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12203"/>
                  </a:ext>
                </a:extLst>
              </a:tr>
              <a:tr h="362845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SK실트론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예지보전 기술조건과 운영방안 검토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18108"/>
                  </a:ext>
                </a:extLst>
              </a:tr>
              <a:tr h="529443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SK C&amp;C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품질 인프라 및 비용 구조 검토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77960"/>
                  </a:ext>
                </a:extLst>
              </a:tr>
              <a:tr h="196246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설비 파트너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공정 관련 협력 가능성 확인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963089"/>
                  </a:ext>
                </a:extLst>
              </a:tr>
              <a:tr h="202910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사업단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단계별 의사결정 자료 통합</a:t>
                      </a:r>
                      <a:endParaRPr lang="en-US" altLang="ko-KR" sz="1000" kern="1200" spc="0" baseline="3000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17260"/>
                  </a:ext>
                </a:extLst>
              </a:tr>
            </a:tbl>
          </a:graphicData>
        </a:graphic>
      </p:graphicFrame>
      <p:sp>
        <p:nvSpPr>
          <p:cNvPr id="5" name="텍스트 개체 틀 17">
            <a:extLst>
              <a:ext uri="{FF2B5EF4-FFF2-40B4-BE49-F238E27FC236}">
                <a16:creationId xmlns:a16="http://schemas.microsoft.com/office/drawing/2014/main" id="{9B94B0CC-2598-8646-C878-CF268875FDF5}"/>
              </a:ext>
            </a:extLst>
          </p:cNvPr>
          <p:cNvSpPr txBox="1">
            <a:spLocks/>
          </p:cNvSpPr>
          <p:nvPr/>
        </p:nvSpPr>
        <p:spPr>
          <a:xfrm>
            <a:off x="2649539" y="2908803"/>
            <a:ext cx="6875462" cy="283365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Autofit/>
          </a:bodyPr>
          <a:lstStyle>
            <a:lvl1pPr marL="176213" indent="-176213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1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360363" indent="-184150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534988" indent="-174625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【</a:t>
            </a:r>
            <a:r>
              <a: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lang="ko-KR" altLang="en-US" kern="0" dirty="0">
                <a:solidFill>
                  <a:prstClr val="black"/>
                </a:solidFill>
                <a:latin typeface="Corbel" panose="020B0503020204020204" pitchFamily="34" charset="0"/>
                <a:ea typeface="나눔스퀘어" panose="020B0600000101010101" pitchFamily="50" charset="-127"/>
              </a:rPr>
              <a:t>표</a:t>
            </a:r>
            <a:r>
              <a: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】</a:t>
            </a:r>
            <a:r>
              <a: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041" y="6647300"/>
            <a:ext cx="9350335" cy="2154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※ 본 자료는 스마트 제조 사업단 시연을 위해 생성한 가상 데이터이며 실제 사업정보가 아닙니다.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6149888"/>
            <a:ext cx="6793992" cy="50292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9354312" y="6099596"/>
            <a:ext cx="146304" cy="146304"/>
          </a:xfrm>
          <a:prstGeom prst="triangle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0" y="5715000"/>
            <a:ext cx="2011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Project 진행 일정(案)</a:t>
            </a:r>
          </a:p>
        </p:txBody>
      </p:sp>
      <p:sp>
        <p:nvSpPr>
          <p:cNvPr id="31" name="Oval 30"/>
          <p:cNvSpPr/>
          <p:nvPr/>
        </p:nvSpPr>
        <p:spPr>
          <a:xfrm>
            <a:off x="3159252" y="6113312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0" y="5924946"/>
            <a:ext cx="7680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'27.4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79776" y="6254861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Kick-off</a:t>
            </a:r>
          </a:p>
        </p:txBody>
      </p:sp>
      <p:sp>
        <p:nvSpPr>
          <p:cNvPr id="34" name="Oval 33"/>
          <p:cNvSpPr/>
          <p:nvPr/>
        </p:nvSpPr>
        <p:spPr>
          <a:xfrm>
            <a:off x="4342485" y="6113312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17873" y="5924946"/>
            <a:ext cx="7680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'27.5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63009" y="6254861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요건정의</a:t>
            </a:r>
          </a:p>
        </p:txBody>
      </p:sp>
      <p:sp>
        <p:nvSpPr>
          <p:cNvPr id="37" name="Oval 36"/>
          <p:cNvSpPr/>
          <p:nvPr/>
        </p:nvSpPr>
        <p:spPr>
          <a:xfrm>
            <a:off x="5525719" y="6113312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01107" y="5924946"/>
            <a:ext cx="7680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'27.6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46243" y="6254861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대안검토</a:t>
            </a:r>
          </a:p>
        </p:txBody>
      </p:sp>
      <p:sp>
        <p:nvSpPr>
          <p:cNvPr id="40" name="Oval 39"/>
          <p:cNvSpPr/>
          <p:nvPr/>
        </p:nvSpPr>
        <p:spPr>
          <a:xfrm>
            <a:off x="6708952" y="6113312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4340" y="5924946"/>
            <a:ext cx="7680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'27.8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9476" y="6254861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실증</a:t>
            </a:r>
          </a:p>
        </p:txBody>
      </p:sp>
      <p:sp>
        <p:nvSpPr>
          <p:cNvPr id="43" name="Oval 42"/>
          <p:cNvSpPr/>
          <p:nvPr/>
        </p:nvSpPr>
        <p:spPr>
          <a:xfrm>
            <a:off x="7892186" y="6113312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67574" y="5924946"/>
            <a:ext cx="7680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'27.10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12710" y="6254861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CEO보고</a:t>
            </a:r>
          </a:p>
        </p:txBody>
      </p:sp>
      <p:sp>
        <p:nvSpPr>
          <p:cNvPr id="46" name="Oval 45"/>
          <p:cNvSpPr/>
          <p:nvPr/>
        </p:nvSpPr>
        <p:spPr>
          <a:xfrm>
            <a:off x="9075420" y="6113312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50808" y="5924946"/>
            <a:ext cx="76809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'28.Q1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95944" y="6254861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확대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>
          <a:extLst>
            <a:ext uri="{FF2B5EF4-FFF2-40B4-BE49-F238E27FC236}">
              <a16:creationId xmlns:a16="http://schemas.microsoft.com/office/drawing/2014/main" id="{F3DD9458-6313-B51C-866A-47B563CF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0FF554-4351-B6AB-376A-35C4303A02DA}"/>
              </a:ext>
            </a:extLst>
          </p:cNvPr>
          <p:cNvSpPr/>
          <p:nvPr/>
        </p:nvSpPr>
        <p:spPr>
          <a:xfrm>
            <a:off x="272480" y="944562"/>
            <a:ext cx="1391281" cy="5653086"/>
          </a:xfrm>
          <a:prstGeom prst="rect">
            <a:avLst/>
          </a:prstGeom>
          <a:noFill/>
        </p:spPr>
        <p:txBody>
          <a:bodyPr wrap="none" anchor="ctr" anchorCtr="0">
            <a:noAutofit/>
          </a:bodyPr>
          <a:lstStyle/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SMART
FACTORY</a:t>
            </a: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2C0E2E5F-5851-8A41-2CC5-F18557058D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8938" y="1097366"/>
            <a:ext cx="7965133" cy="5500282"/>
          </a:xfrm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AI 기반 자율제조 운영체계 구축</a:t>
            </a:r>
          </a:p>
          <a:p>
            <a:pPr lvl="1" algn="l"/>
            <a:r>
              <a:rPr sz="13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Phase 2 · 기대효과 및 측정 방법</a:t>
            </a:r>
          </a:p>
          <a:p>
            <a:pPr lvl="2" algn="l"/>
            <a:r>
              <a:rPr sz="12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실행 방향</a:t>
            </a:r>
          </a:p>
          <a:p>
            <a:pPr lvl="3" algn="l"/>
            <a:r>
              <a:rPr sz="11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디지털 트윈 중심의 실행 범위와 담당 조직을 구체화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SK C&amp;C와 세부 기준 협의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성과는 품질 지표와 일정 준수율로 확인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02D2E7-813E-6E99-58D0-8D2BEB2455D8}"/>
              </a:ext>
            </a:extLst>
          </p:cNvPr>
          <p:cNvSpPr txBox="1"/>
          <p:nvPr/>
        </p:nvSpPr>
        <p:spPr>
          <a:xfrm>
            <a:off x="273050" y="170118"/>
            <a:ext cx="6583680" cy="461665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기대효과 및 측정 방법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C7791A-BA6A-2957-973C-EA800BD9C0F1}"/>
              </a:ext>
            </a:extLst>
          </p:cNvPr>
          <p:cNvSpPr txBox="1"/>
          <p:nvPr/>
        </p:nvSpPr>
        <p:spPr>
          <a:xfrm>
            <a:off x="280041" y="6647300"/>
            <a:ext cx="9350335" cy="215443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※ 본 자료는 스마트 제조 사업단 시연을 위해 생성한 가상 데이터이며 실제 사업정보가 아닙니다.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nvGrpSpPr>
        <p:cNvPr id="1" name="">
          <a:extLst>
            <a:ext uri="{FF2B5EF4-FFF2-40B4-BE49-F238E27FC236}">
              <a16:creationId xmlns:a16="http://schemas.microsoft.com/office/drawing/2014/main" id="{A8EA50D1-18E7-178C-9D2A-B4E4C652B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4BAA677-C132-8B73-027B-6C9DB766669C}"/>
              </a:ext>
            </a:extLst>
          </p:cNvPr>
          <p:cNvSpPr/>
          <p:nvPr/>
        </p:nvSpPr>
        <p:spPr>
          <a:xfrm>
            <a:off x="272480" y="944562"/>
            <a:ext cx="1391281" cy="5653086"/>
          </a:xfrm>
          <a:prstGeom prst="rect">
            <a:avLst/>
          </a:prstGeom>
          <a:noFill/>
        </p:spPr>
        <p:txBody>
          <a:bodyPr wrap="none" anchor="ctr" anchorCtr="0">
            <a:noAutofit/>
          </a:bodyPr>
          <a:lstStyle/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SMART
FACTORY</a:t>
            </a: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A6769721-62EF-F654-B5D9-FDF5037B04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8938" y="1097366"/>
            <a:ext cx="7965133" cy="5500282"/>
          </a:xfrm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AI 기반 자율제조 운영체계 구축</a:t>
            </a:r>
          </a:p>
          <a:p>
            <a:pPr lvl="1" algn="l"/>
            <a:r>
              <a:rPr sz="13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Phase 2 · 종합 결론과 후속 조치</a:t>
            </a:r>
          </a:p>
          <a:p>
            <a:pPr lvl="2" algn="l"/>
            <a:r>
              <a:rPr sz="1200" b="1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추진 내용</a:t>
            </a:r>
          </a:p>
          <a:p>
            <a:pPr lvl="3" algn="l"/>
            <a:r>
              <a:rPr sz="11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예지보전 중심의 실행 범위와 담당 조직을 구체화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설비 파트너와 세부 기준 협의</a:t>
            </a:r>
          </a:p>
          <a:p>
            <a:pPr lvl="4" algn="l"/>
            <a:r>
              <a:rPr sz="10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성과는 공정 지표와 일정 준수율로 확인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A644DF-F8FE-5839-6496-D7CF0BF2A1EB}"/>
              </a:ext>
            </a:extLst>
          </p:cNvPr>
          <p:cNvSpPr txBox="1"/>
          <p:nvPr/>
        </p:nvSpPr>
        <p:spPr>
          <a:xfrm>
            <a:off x="273050" y="170118"/>
            <a:ext cx="6583680" cy="461665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000000"/>
                </a:solidFill>
                <a:latin typeface="Corbel"/>
                <a:ea typeface="나눔스퀘어 ExtraBold"/>
                <a:cs typeface="Tahoma"/>
              </a:rPr>
              <a:t>종합 결론과 후속 조치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839E8-49E3-0FB7-5DA7-4AE26A787775}"/>
              </a:ext>
            </a:extLst>
          </p:cNvPr>
          <p:cNvSpPr txBox="1"/>
          <p:nvPr/>
        </p:nvSpPr>
        <p:spPr>
          <a:xfrm>
            <a:off x="280041" y="6647300"/>
            <a:ext cx="9350335" cy="215443"/>
          </a:xfrm>
          <a:prstGeom prst="rect">
            <a:avLst/>
          </a:prstGeom>
          <a:noFill/>
        </p:spPr>
        <p:txBody>
          <a:bodyPr wrap="non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800" b="0">
                <a:solidFill>
                  <a:srgbClr val="000000"/>
                </a:solidFill>
                <a:latin typeface="Corbel"/>
                <a:ea typeface="나눔스퀘어"/>
                <a:cs typeface="Tahoma"/>
              </a:rPr>
              <a:t>※ 본 자료는 스마트 제조 사업단 시연을 위해 생성한 가상 데이터이며 실제 사업정보가 아닙니다.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/>
              <a:cs typeface="Tahoma" panose="020B0604030504040204" pitchFamily="34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A8E42F2-0154-4A19-6D8A-89274E669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167333"/>
              </p:ext>
            </p:extLst>
          </p:nvPr>
        </p:nvGraphicFramePr>
        <p:xfrm>
          <a:off x="2649537" y="4733336"/>
          <a:ext cx="6875461" cy="761219"/>
        </p:xfrm>
        <a:graphic>
          <a:graphicData uri="http://schemas.openxmlformats.org/drawingml/2006/table">
            <a:tbl>
              <a:tblPr/>
              <a:tblGrid>
                <a:gridCol w="655638">
                  <a:extLst>
                    <a:ext uri="{9D8B030D-6E8A-4147-A177-3AD203B41FA5}">
                      <a16:colId xmlns:a16="http://schemas.microsoft.com/office/drawing/2014/main" val="3685127304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90954495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538179377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3305996028"/>
                    </a:ext>
                  </a:extLst>
                </a:gridCol>
                <a:gridCol w="790573">
                  <a:extLst>
                    <a:ext uri="{9D8B030D-6E8A-4147-A177-3AD203B41FA5}">
                      <a16:colId xmlns:a16="http://schemas.microsoft.com/office/drawing/2014/main" val="1821002234"/>
                    </a:ext>
                  </a:extLst>
                </a:gridCol>
              </a:tblGrid>
              <a:tr h="125245"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지원 적극성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Infra</a:t>
                      </a:r>
                      <a:endParaRPr kumimoji="1" lang="ko-KR" altLang="en-US" sz="1050" b="1" kern="0" baseline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수용성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07981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후보 A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공정 기반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높음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보유</a:t>
                      </a:r>
                      <a:endParaRPr lang="en-US" altLang="ko-KR" sz="1000" kern="1200" spc="0" baseline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높음</a:t>
                      </a:r>
                      <a:endParaRPr lang="en-US" altLang="ko-KR" sz="1000" kern="1200" spc="0" baseline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12203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후보 B</a:t>
                      </a:r>
                      <a:endParaRPr kumimoji="1" lang="en-US" altLang="ko-KR" sz="10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데이터 연계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중간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보유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중간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18108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후보 C</a:t>
                      </a:r>
                      <a:endParaRPr kumimoji="1" lang="en-US" altLang="ko-KR" sz="10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자동화 확장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검토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추가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조건부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963089"/>
                  </a:ext>
                </a:extLst>
              </a:tr>
            </a:tbl>
          </a:graphicData>
        </a:graphic>
      </p:graphicFrame>
      <p:sp>
        <p:nvSpPr>
          <p:cNvPr id="5" name="텍스트 개체 틀 17">
            <a:extLst>
              <a:ext uri="{FF2B5EF4-FFF2-40B4-BE49-F238E27FC236}">
                <a16:creationId xmlns:a16="http://schemas.microsoft.com/office/drawing/2014/main" id="{288F525E-67ED-8485-57C3-CD3EE06C5CE5}"/>
              </a:ext>
            </a:extLst>
          </p:cNvPr>
          <p:cNvSpPr txBox="1">
            <a:spLocks/>
          </p:cNvSpPr>
          <p:nvPr/>
        </p:nvSpPr>
        <p:spPr>
          <a:xfrm>
            <a:off x="2649539" y="4409182"/>
            <a:ext cx="6875462" cy="283365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Autofit/>
          </a:bodyPr>
          <a:lstStyle>
            <a:lvl1pPr marL="176213" indent="-176213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1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360363" indent="-184150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534988" indent="-174625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【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1" lang="ko-KR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표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】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E0D2058-0E6F-7C86-6F03-2DD784605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106868"/>
              </p:ext>
            </p:extLst>
          </p:nvPr>
        </p:nvGraphicFramePr>
        <p:xfrm>
          <a:off x="2649536" y="2297071"/>
          <a:ext cx="6875461" cy="1131928"/>
        </p:xfrm>
        <a:graphic>
          <a:graphicData uri="http://schemas.openxmlformats.org/drawingml/2006/table">
            <a:tbl>
              <a:tblPr/>
              <a:tblGrid>
                <a:gridCol w="1645373">
                  <a:extLst>
                    <a:ext uri="{9D8B030D-6E8A-4147-A177-3AD203B41FA5}">
                      <a16:colId xmlns:a16="http://schemas.microsoft.com/office/drawing/2014/main" val="3685127304"/>
                    </a:ext>
                  </a:extLst>
                </a:gridCol>
                <a:gridCol w="2096655">
                  <a:extLst>
                    <a:ext uri="{9D8B030D-6E8A-4147-A177-3AD203B41FA5}">
                      <a16:colId xmlns:a16="http://schemas.microsoft.com/office/drawing/2014/main" val="538179377"/>
                    </a:ext>
                  </a:extLst>
                </a:gridCol>
                <a:gridCol w="3133433">
                  <a:extLst>
                    <a:ext uri="{9D8B030D-6E8A-4147-A177-3AD203B41FA5}">
                      <a16:colId xmlns:a16="http://schemas.microsoft.com/office/drawing/2014/main" val="3305996028"/>
                    </a:ext>
                  </a:extLst>
                </a:gridCol>
              </a:tblGrid>
              <a:tr h="213706"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추진방안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07981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디지털 트윈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디지털 트윈 적용 범위 정의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SK하이닉스 주관 검토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12203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예지보전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예지보전 기술 조건 확인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SK실트론 공동 실증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18108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Corbel"/>
                          <a:ea typeface="나눔스퀘어 ExtraBold"/>
                          <a:cs typeface="Tahoma"/>
                        </a:rPr>
                        <a:t>품질</a:t>
                      </a:r>
                      <a:endParaRPr kumimoji="1" lang="en-US" altLang="ko-KR" sz="1000" b="1" kern="0" baseline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품질 운영 기준 수립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Corbel"/>
                          <a:ea typeface="나눔스퀘어"/>
                          <a:cs typeface="Tahoma"/>
                        </a:rPr>
                        <a:t>사업단 통합 관리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963089"/>
                  </a:ext>
                </a:extLst>
              </a:tr>
            </a:tbl>
          </a:graphicData>
        </a:graphic>
      </p:graphicFrame>
      <p:sp>
        <p:nvSpPr>
          <p:cNvPr id="8" name="텍스트 개체 틀 17">
            <a:extLst>
              <a:ext uri="{FF2B5EF4-FFF2-40B4-BE49-F238E27FC236}">
                <a16:creationId xmlns:a16="http://schemas.microsoft.com/office/drawing/2014/main" id="{036726C2-0E9C-02F8-8FD5-622C5B317661}"/>
              </a:ext>
            </a:extLst>
          </p:cNvPr>
          <p:cNvSpPr txBox="1">
            <a:spLocks/>
          </p:cNvSpPr>
          <p:nvPr/>
        </p:nvSpPr>
        <p:spPr>
          <a:xfrm>
            <a:off x="2649539" y="1963685"/>
            <a:ext cx="6875462" cy="283365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Autofit/>
          </a:bodyPr>
          <a:lstStyle>
            <a:lvl1pPr marL="176213" indent="-176213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1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360363" indent="-184150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534988" indent="-174625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【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1" lang="ko-KR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표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】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c1357aa-0960-4b6d-b918-e2668fbe3cee}" enabled="1" method="Privileged" siteId="{a291953b-a95f-4c1e-8127-00ffdb5b7f6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254</Words>
  <Application>Microsoft Office PowerPoint</Application>
  <PresentationFormat>A4 용지(210x297mm)</PresentationFormat>
  <Paragraphs>111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3" baseType="lpstr">
      <vt:lpstr>나눔스퀘어</vt:lpstr>
      <vt:lpstr>나눔스퀘어 ExtraBold</vt:lpstr>
      <vt:lpstr>맑은 고딕</vt:lpstr>
      <vt:lpstr>Aptos</vt:lpstr>
      <vt:lpstr>Aptos Display</vt:lpstr>
      <vt:lpstr>Arial</vt:lpstr>
      <vt:lpstr>Corbel</vt:lpstr>
      <vt:lpstr>Tahoma</vt:lpstr>
      <vt:lpstr>Wingdings</vt:lpstr>
      <vt:lpstr>Office 테마</vt:lpstr>
      <vt:lpstr>PowerPoint 프레젠테이션</vt:lpstr>
      <vt:lpstr>PowerPoint 프레젠테이션</vt:lpstr>
      <vt:lpstr>PowerPoint 프레젠테이션</vt:lpstr>
    </vt:vector>
  </TitlesOfParts>
  <Company>SKI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우선영(SUNYOUNG WOO)/사업기획3팀/SKI</dc:creator>
  <cp:lastModifiedBy>김송이(SONGIH KIM)/경영관리역량/SKI</cp:lastModifiedBy>
  <cp:revision>2</cp:revision>
  <dcterms:created xsi:type="dcterms:W3CDTF">2026-06-17T01:22:33Z</dcterms:created>
  <dcterms:modified xsi:type="dcterms:W3CDTF">2026-07-27T01:21:38Z</dcterms:modified>
</cp:coreProperties>
</file>